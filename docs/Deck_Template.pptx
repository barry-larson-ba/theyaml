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cover layout. Dark blue field, flush-left display type, four-cell metadata band across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brand colors, their roles, and the text colors that sit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scale. Nothing below 24px on a slide. Aptos throughout, weights 400 to 800.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A: numbered list. Use for sequential points, four maximum per slide — split rather than shrink.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B: the cell grid. Two or three columns, 2px gutters showing as rules. Use for parallel items of equal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C: the stat band. Three colored fields with oversized numerals, and a total line beneath the 2px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D: the statement slide. Large claim left, supporting list right on a hairline-ruled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E: the dark decision table. Reserve the full dark blue field for asks, decisions and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F: placeholder slide. Dashed 2px frames with monospace labels mark where real material is still 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519555"/>
            <a:ext cx="16459200" cy="1365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2475135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56439" y="914400"/>
            <a:ext cx="1558877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1920 × 1080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87432"/>
            <a:ext cx="14668500" cy="1219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669"/>
              </a:lnSpc>
              <a:buNone/>
            </a:pPr>
            <a:r>
              <a:rPr lang="en-US" sz="9900" b="1" spc="-297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914400" y="5112226"/>
            <a:ext cx="10791825" cy="101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59"/>
              </a:lnSpc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layouts, one palette, one typeface. Flush left, zero radius, 2px rules.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8143716"/>
            <a:ext cx="16459200" cy="1365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443119"/>
            <a:ext cx="4510564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TYPEFACE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8819674"/>
            <a:ext cx="4510564" cy="591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Aptos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338763" y="8443119"/>
            <a:ext cx="4175284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8763" y="8819674"/>
            <a:ext cx="4175284" cy="591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458325" y="8443119"/>
            <a:ext cx="4175284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58325" y="8819674"/>
            <a:ext cx="4175284" cy="591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0px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3577888" y="8443119"/>
            <a:ext cx="4175284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WEIGHT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77888" y="8819674"/>
            <a:ext cx="4175284" cy="591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2px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Palette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3019108"/>
            <a:ext cx="16459200" cy="4267200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9108"/>
            <a:ext cx="4100513" cy="42672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438208"/>
            <a:ext cx="3756184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" y="5999162"/>
            <a:ext cx="3756184" cy="54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Blue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57300" y="6580505"/>
            <a:ext cx="3756184" cy="32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#003B71 · 0, 59, 113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033963" y="3019108"/>
            <a:ext cx="4100513" cy="4267200"/>
          </a:xfrm>
          <a:prstGeom prst="rect">
            <a:avLst/>
          </a:prstGeom>
          <a:solidFill>
            <a:srgbClr val="0078B3"/>
          </a:solidFill>
          <a:ln/>
        </p:spPr>
      </p:sp>
      <p:sp>
        <p:nvSpPr>
          <p:cNvPr id="11" name="Text 9"/>
          <p:cNvSpPr/>
          <p:nvPr/>
        </p:nvSpPr>
        <p:spPr>
          <a:xfrm>
            <a:off x="5376863" y="3438208"/>
            <a:ext cx="3756184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B9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76863" y="5999162"/>
            <a:ext cx="3756184" cy="54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Turquoise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76863" y="6580505"/>
            <a:ext cx="3756184" cy="32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#0078B3 · 0, 120, 179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53525" y="3019108"/>
            <a:ext cx="4100513" cy="4267200"/>
          </a:xfrm>
          <a:prstGeom prst="rect">
            <a:avLst/>
          </a:prstGeom>
          <a:solidFill>
            <a:srgbClr val="3F99C6"/>
          </a:solidFill>
          <a:ln/>
        </p:spPr>
      </p:sp>
      <p:sp>
        <p:nvSpPr>
          <p:cNvPr id="15" name="Text 13"/>
          <p:cNvSpPr/>
          <p:nvPr/>
        </p:nvSpPr>
        <p:spPr>
          <a:xfrm>
            <a:off x="9496425" y="3438208"/>
            <a:ext cx="3756184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TERTIARY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496425" y="5999162"/>
            <a:ext cx="3756184" cy="54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 Blue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96425" y="6580505"/>
            <a:ext cx="3756184" cy="32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#3F99C6 · 63, 153, 198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273088" y="3019108"/>
            <a:ext cx="4100513" cy="4267200"/>
          </a:xfrm>
          <a:prstGeom prst="rect">
            <a:avLst/>
          </a:prstGeom>
          <a:solidFill>
            <a:srgbClr val="40C1AC"/>
          </a:solidFill>
          <a:ln/>
        </p:spPr>
      </p:sp>
      <p:sp>
        <p:nvSpPr>
          <p:cNvPr id="19" name="Text 17"/>
          <p:cNvSpPr/>
          <p:nvPr/>
        </p:nvSpPr>
        <p:spPr>
          <a:xfrm>
            <a:off x="13615988" y="3438208"/>
            <a:ext cx="3756184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ACCENT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615988" y="5999162"/>
            <a:ext cx="3756184" cy="54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1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3615988" y="6580505"/>
            <a:ext cx="3756184" cy="32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312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#40C1AC · 64, 193, 172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7667308"/>
            <a:ext cx="4100513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7871460"/>
            <a:ext cx="391872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4"/>
              </a:lnSpc>
              <a:buNone/>
            </a:pPr>
            <a:r>
              <a:rPr lang="en-US" sz="195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Headings, dark fields, primary emphasis.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033963" y="7667308"/>
            <a:ext cx="4100513" cy="13652"/>
          </a:xfrm>
          <a:prstGeom prst="rect">
            <a:avLst/>
          </a:prstGeom>
          <a:solidFill>
            <a:srgbClr val="0078B3"/>
          </a:solidFill>
          <a:ln/>
        </p:spPr>
      </p:sp>
      <p:sp>
        <p:nvSpPr>
          <p:cNvPr id="25" name="Text 23"/>
          <p:cNvSpPr/>
          <p:nvPr/>
        </p:nvSpPr>
        <p:spPr>
          <a:xfrm>
            <a:off x="5033963" y="7871460"/>
            <a:ext cx="391872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4"/>
              </a:lnSpc>
              <a:buNone/>
            </a:pPr>
            <a:r>
              <a:rPr lang="en-US" sz="195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Kickers, labels, second-rank fills.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53525" y="7667308"/>
            <a:ext cx="4100513" cy="13652"/>
          </a:xfrm>
          <a:prstGeom prst="rect">
            <a:avLst/>
          </a:prstGeom>
          <a:solidFill>
            <a:srgbClr val="3F99C6"/>
          </a:solidFill>
          <a:ln/>
        </p:spPr>
      </p:sp>
      <p:sp>
        <p:nvSpPr>
          <p:cNvPr id="27" name="Text 25"/>
          <p:cNvSpPr/>
          <p:nvPr/>
        </p:nvSpPr>
        <p:spPr>
          <a:xfrm>
            <a:off x="9153525" y="7871460"/>
            <a:ext cx="391872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4"/>
              </a:lnSpc>
              <a:buNone/>
            </a:pPr>
            <a:r>
              <a:rPr lang="en-US" sz="195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 step in ranked sequences.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273088" y="7667308"/>
            <a:ext cx="4100513" cy="13652"/>
          </a:xfrm>
          <a:prstGeom prst="rect">
            <a:avLst/>
          </a:prstGeom>
          <a:solidFill>
            <a:srgbClr val="40C1AC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3088" y="7871460"/>
            <a:ext cx="391872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4"/>
              </a:lnSpc>
              <a:buNone/>
            </a:pPr>
            <a:r>
              <a:rPr lang="en-US" sz="195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Accents on dark: numerals, eyebrows.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T02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Scale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3933508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52813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/ 800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52900" y="3038158"/>
            <a:ext cx="145427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538"/>
              </a:lnSpc>
              <a:buNone/>
            </a:pPr>
            <a:r>
              <a:rPr lang="en-US" sz="5400" b="1" spc="-162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display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4971415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95641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 / 700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52900" y="4149884"/>
            <a:ext cx="1454277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80"/>
              </a:lnSpc>
              <a:buNone/>
            </a:pPr>
            <a:r>
              <a:rPr lang="en-US" sz="4800" b="1" spc="-120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title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14400" y="5697696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21923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600 · 0.18em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52900" y="5187791"/>
            <a:ext cx="1454277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KICKER / EYEBROW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6593205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070282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52900" y="5914073"/>
            <a:ext cx="1454277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92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copy — the default size for numbered list items and single-column prose.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7433469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921182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28–32 / 400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52900" y="6809581"/>
            <a:ext cx="145427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9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body — two- and three-column grids and supporting notes.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8773795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8274368"/>
            <a:ext cx="3143250" cy="304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/ 800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52900" y="7649845"/>
            <a:ext cx="145427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834"/>
              </a:lnSpc>
              <a:buNone/>
            </a:pPr>
            <a:r>
              <a:rPr lang="en-US" sz="7200" b="1" spc="-28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5810123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58101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Numbered List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6540004" y="1801495"/>
            <a:ext cx="909796" cy="3657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2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4060190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47708"/>
            <a:ext cx="83820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019300" y="3247708"/>
            <a:ext cx="1688973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92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idea per row, rule between rows. Teal numerals carry the sequence; the copy stays ink on white.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222399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09916"/>
            <a:ext cx="83820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019300" y="4409916"/>
            <a:ext cx="1688973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92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Emphasize inside the sentence with </a:t>
            </a:r>
            <a:pPr algn="l" indent="0" marL="0">
              <a:lnSpc>
                <a:spcPct val="109192"/>
              </a:lnSpc>
              <a:buNone/>
            </a:pPr>
            <a:r>
              <a:rPr lang="en-US" sz="2550" b="1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bold dark blue </a:t>
            </a:r>
            <a:pPr algn="l" indent="0" marL="0">
              <a:lnSpc>
                <a:spcPct val="109192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never with a highlight or a box.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84607"/>
            <a:ext cx="16459200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72125"/>
            <a:ext cx="83820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019300" y="5572125"/>
            <a:ext cx="16889730" cy="507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92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"1 OF 2" marker in the header keeps split topics legible as one thought.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734334"/>
            <a:ext cx="16459200" cy="100965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075329"/>
            <a:ext cx="2099342" cy="3657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508693" y="7039134"/>
            <a:ext cx="702516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dark band closes a list with the "so what".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Grid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2942908"/>
            <a:ext cx="16459200" cy="6002814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42908"/>
            <a:ext cx="8220075" cy="2126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85808"/>
            <a:ext cx="8581073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38563"/>
            <a:ext cx="8035004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40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cell is label plus copy. Labels are teal on white, dark blue on tinted fills.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53525" y="2942908"/>
            <a:ext cx="8220075" cy="2126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572625" y="3285808"/>
            <a:ext cx="8581073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72625" y="3738563"/>
            <a:ext cx="8035004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40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2px grid gap sits on a grey backing so the gutters read as rules.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5088414"/>
            <a:ext cx="8220075" cy="2126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431314"/>
            <a:ext cx="8581073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884069"/>
            <a:ext cx="8035004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40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Outer cells lose their outer padding so text stays flush to the slide margin.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153525" y="5088414"/>
            <a:ext cx="8220075" cy="2126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572625" y="5431314"/>
            <a:ext cx="8581073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72625" y="5884069"/>
            <a:ext cx="8035004" cy="89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40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fifth item spans the full width with a 2px dark blue rule above it.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914400" y="7233920"/>
            <a:ext cx="16459200" cy="17118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7233920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7590473"/>
            <a:ext cx="1764411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SPAN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8043228"/>
            <a:ext cx="1764411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40"/>
              </a:lnSpc>
              <a:buNone/>
            </a:pPr>
            <a:r>
              <a:rPr lang="en-US" sz="2325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this one.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 Band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3019108"/>
            <a:ext cx="16459200" cy="32639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9108"/>
            <a:ext cx="5473700" cy="3263900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514408"/>
            <a:ext cx="50990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3994468"/>
            <a:ext cx="50990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517"/>
              </a:lnSpc>
              <a:buNone/>
            </a:pPr>
            <a:r>
              <a:rPr lang="en-US" sz="11250" b="1" spc="-4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1333500" y="5432743"/>
            <a:ext cx="5099050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note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7150" y="3019108"/>
            <a:ext cx="5473700" cy="3263900"/>
          </a:xfrm>
          <a:prstGeom prst="rect">
            <a:avLst/>
          </a:prstGeom>
          <a:solidFill>
            <a:srgbClr val="0078B3"/>
          </a:solidFill>
          <a:ln/>
        </p:spPr>
      </p:sp>
      <p:sp>
        <p:nvSpPr>
          <p:cNvPr id="11" name="Text 9"/>
          <p:cNvSpPr/>
          <p:nvPr/>
        </p:nvSpPr>
        <p:spPr>
          <a:xfrm>
            <a:off x="6826250" y="3514408"/>
            <a:ext cx="50990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B9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26250" y="3994468"/>
            <a:ext cx="50990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517"/>
              </a:lnSpc>
              <a:buNone/>
            </a:pPr>
            <a:r>
              <a:rPr lang="en-US" sz="11250" b="1" spc="-4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</a:t>
            </a:r>
            <a:endParaRPr lang="en-US" sz="11250" dirty="0"/>
          </a:p>
        </p:txBody>
      </p:sp>
      <p:sp>
        <p:nvSpPr>
          <p:cNvPr id="13" name="Text 11"/>
          <p:cNvSpPr/>
          <p:nvPr/>
        </p:nvSpPr>
        <p:spPr>
          <a:xfrm>
            <a:off x="6826250" y="5432743"/>
            <a:ext cx="5099050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note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899900" y="3019108"/>
            <a:ext cx="5473700" cy="3263900"/>
          </a:xfrm>
          <a:prstGeom prst="rect">
            <a:avLst/>
          </a:prstGeom>
          <a:solidFill>
            <a:srgbClr val="40C1A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19000" y="3514408"/>
            <a:ext cx="50990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19000" y="3994468"/>
            <a:ext cx="50990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517"/>
              </a:lnSpc>
              <a:buNone/>
            </a:pPr>
            <a:r>
              <a:rPr lang="en-US" sz="11250" b="1" spc="-450" kern="0" dirty="0">
                <a:solidFill>
                  <a:srgbClr val="0031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</a:t>
            </a:r>
            <a:endParaRPr lang="en-US" sz="11250" dirty="0"/>
          </a:p>
        </p:txBody>
      </p:sp>
      <p:sp>
        <p:nvSpPr>
          <p:cNvPr id="17" name="Text 15"/>
          <p:cNvSpPr/>
          <p:nvPr/>
        </p:nvSpPr>
        <p:spPr>
          <a:xfrm>
            <a:off x="12319000" y="5432743"/>
            <a:ext cx="5099050" cy="393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312E">
                    <a:alpha val="7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note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302057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911657"/>
            <a:ext cx="9832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88198" y="6620510"/>
            <a:ext cx="11720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80"/>
              </a:lnSpc>
              <a:buNone/>
            </a:pPr>
            <a:r>
              <a:rPr lang="en-US" sz="4800" b="1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000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&amp; List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14400" y="3019108"/>
            <a:ext cx="9288001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15"/>
              </a:lnSpc>
              <a:buNone/>
            </a:pPr>
            <a:r>
              <a:rPr lang="en-US" sz="3300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claim the slide exists to make, set at </a:t>
            </a:r>
            <a:pPr algn="l" indent="0" marL="0">
              <a:lnSpc>
                <a:spcPct val="106115"/>
              </a:lnSpc>
              <a:buNone/>
            </a:pPr>
            <a:r>
              <a:rPr lang="en-US" sz="3300" b="1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44px.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4497388"/>
            <a:ext cx="92880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20"/>
              </a:lnSpc>
              <a:buNone/>
            </a:pPr>
            <a:r>
              <a:rPr lang="en-US" sz="240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paragraph qualifies it in grey at 32px. Never more than two paragraphs here.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693876" y="3019108"/>
            <a:ext cx="6679724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10693876" y="3261360"/>
            <a:ext cx="6880115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LIST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93876" y="3752215"/>
            <a:ext cx="6679724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0" name="Text 8"/>
          <p:cNvSpPr/>
          <p:nvPr/>
        </p:nvSpPr>
        <p:spPr>
          <a:xfrm>
            <a:off x="10693876" y="3949541"/>
            <a:ext cx="6880115" cy="42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one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93876" y="4522311"/>
            <a:ext cx="6679724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3876" y="4719637"/>
            <a:ext cx="6880115" cy="42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two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693876" y="5292407"/>
            <a:ext cx="6679724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3876" y="5489733"/>
            <a:ext cx="6880115" cy="42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three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693876" y="6062504"/>
            <a:ext cx="6679724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3876" y="6259830"/>
            <a:ext cx="6880115" cy="42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four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693876" y="6832600"/>
            <a:ext cx="6679724" cy="9525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3876" y="7029926"/>
            <a:ext cx="6880115" cy="42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E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five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B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Table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4135596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00058"/>
            <a:ext cx="4555966" cy="44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label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37187" y="3011646"/>
            <a:ext cx="89588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columns: what is being asked for, what it means, and who owns it.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516100" y="3061494"/>
            <a:ext cx="31432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TBD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5601811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66272"/>
            <a:ext cx="4555966" cy="44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label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37187" y="4477861"/>
            <a:ext cx="89588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are white at 25% opacity — the same rhythm as the light layouts.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516100" y="4527709"/>
            <a:ext cx="31432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TBD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7068026"/>
            <a:ext cx="164592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32487"/>
            <a:ext cx="4555966" cy="44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C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label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37187" y="5944076"/>
            <a:ext cx="89588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rows maximum. Five is a table, and a table belongs in the appendix.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516100" y="5993924"/>
            <a:ext cx="31432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TBD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FFFFFF">
                    <a:alpha val="6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FFFFFF">
                    <a:alpha val="6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72055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338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29055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19"/>
              </a:lnSpc>
              <a:buNone/>
            </a:pPr>
            <a:r>
              <a:rPr lang="en-US" sz="6300" b="1" spc="-158" kern="0" dirty="0">
                <a:solidFill>
                  <a:srgbClr val="003B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&amp; Appendix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3019108"/>
            <a:ext cx="16459200" cy="5926614"/>
          </a:xfrm>
          <a:prstGeom prst="rect">
            <a:avLst/>
          </a:prstGeom>
          <a:solidFill>
            <a:srgbClr val="D6D4D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9108"/>
            <a:ext cx="5473700" cy="59266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9108"/>
            <a:ext cx="54737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5643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— SECTION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3817620"/>
            <a:ext cx="528472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45"/>
              </a:lnSpc>
              <a:buNone/>
            </a:pPr>
            <a:r>
              <a:rPr lang="en-US" sz="210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describing what the exhibit will show.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857750"/>
            <a:ext cx="5130800" cy="3783171"/>
          </a:xfrm>
          <a:prstGeom prst="rect">
            <a:avLst/>
          </a:prstGeom>
          <a:ln w="13652">
            <a:solidFill>
              <a:srgbClr val="B9B6B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51090" y="4871402"/>
            <a:ext cx="5257419" cy="3793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7150" y="3019108"/>
            <a:ext cx="5473700" cy="59266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7150" y="3019108"/>
            <a:ext cx="54737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14" name="Text 12"/>
          <p:cNvSpPr/>
          <p:nvPr/>
        </p:nvSpPr>
        <p:spPr>
          <a:xfrm>
            <a:off x="6750050" y="3337560"/>
            <a:ext cx="52666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SECTION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750050" y="3817620"/>
            <a:ext cx="4931537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45"/>
              </a:lnSpc>
              <a:buNone/>
            </a:pPr>
            <a:r>
              <a:rPr lang="en-US" sz="210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Monospace placeholder text names the asset that goes here.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750050" y="4857750"/>
            <a:ext cx="4787900" cy="3783171"/>
          </a:xfrm>
          <a:prstGeom prst="rect">
            <a:avLst/>
          </a:prstGeom>
          <a:ln w="13652">
            <a:solidFill>
              <a:srgbClr val="B9B6B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691884" y="4871402"/>
            <a:ext cx="4904232" cy="3793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99900" y="3019108"/>
            <a:ext cx="5473700" cy="59266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99900" y="3019108"/>
            <a:ext cx="54737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12242800" y="3337560"/>
            <a:ext cx="5643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78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SECTION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242800" y="3817620"/>
            <a:ext cx="528472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45"/>
              </a:lnSpc>
              <a:buNone/>
            </a:pPr>
            <a:r>
              <a:rPr lang="en-US" sz="2100" dirty="0">
                <a:solidFill>
                  <a:srgbClr val="4A47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Photography, if used, prints black and white — never tinted.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242800" y="4857750"/>
            <a:ext cx="5130800" cy="3783171"/>
          </a:xfrm>
          <a:prstGeom prst="rect">
            <a:avLst/>
          </a:prstGeom>
          <a:ln w="13652">
            <a:solidFill>
              <a:srgbClr val="B9B6B4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2179491" y="4871402"/>
            <a:ext cx="5257419" cy="3793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8964771"/>
            <a:ext cx="16459200" cy="13652"/>
          </a:xfrm>
          <a:prstGeom prst="rect">
            <a:avLst/>
          </a:prstGeom>
          <a:solidFill>
            <a:srgbClr val="003B7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168924"/>
            <a:ext cx="1670463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Deck Template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7000061" y="9168924"/>
            <a:ext cx="449739" cy="31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B68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T09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2026-08-07T16:19:17Z</dcterms:created>
  <dcterms:modified xsi:type="dcterms:W3CDTF">2026-08-07T16:19:17Z</dcterms:modified>
</cp:coreProperties>
</file>