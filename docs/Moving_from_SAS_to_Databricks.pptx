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portfolio-level view of the SAS estate and what it takes to modernize it. 183 scripts inventoried and prioritized.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slide. The point: we did not prioritize by convenience, we prioritized by business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state, part one: who holds the knowledge and what they know. Fill in the maintainer names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state, part two: the mechanics. Two days to two weeks per script is the number to anchor on for capacity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state, part one: capability and code quality. This is what 'done' looks like for the team and the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state, part two: fidelity of migrated reports, AI-ready workflows, and self-service for business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Frame these as the gap between current and target state — most are solvable with time, tooling access, and clearer platform comms.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ASKS — confirm these with the user before presenting. This is the decision slide: dedicated time, tooling access, and platform comms.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placeholder — drop the full inventory extract, criteria definitions, and per-domain counts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Single-developer, sequential estimate. 50 high-priority scripts at 6 business days each is 300 business days — about 14 months from an October start, landing December 2027, just past the Q4 2027 deadline. The 2-day and 10-day ends of the range bracket it: February 2027 at best, September 2028 at worst. Adding a second developer roughly halves the base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numbers. 50 high, 69 medium, 64 low — 183 total. High priority is the near-term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Rationale for the ranking. High priority clusters around things whose failure is visible outside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priority items are an opportunity, not a backlog — a large share can be retired rather than migrated. Validate dependencies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B71"/>
        </a:solidFill>
      </p:bgPr>
    </p:bg>
    <p:spTree>
      <p:nvGrpSpPr>
        <p:cNvPr id="1" name=""/>
        <p:cNvGrpSpPr/>
        <p:nvPr/>
      </p:nvGrpSpPr>
      <p:grpSpPr>
        <a:xfrm>
          <a:off x="0" y="0"/>
          <a:ext cx="0" cy="0"/>
          <a:chOff x="0" y="0"/>
          <a:chExt cx="0" cy="0"/>
        </a:xfrm>
      </p:grpSpPr>
      <p:sp>
        <p:nvSpPr>
          <p:cNvPr id="2" name="Shape 0"/>
          <p:cNvSpPr/>
          <p:nvPr/>
        </p:nvSpPr>
        <p:spPr>
          <a:xfrm>
            <a:off x="914400" y="1519555"/>
            <a:ext cx="16459200" cy="13652"/>
          </a:xfrm>
          <a:prstGeom prst="rect">
            <a:avLst/>
          </a:prstGeom>
          <a:solidFill>
            <a:srgbClr val="FFFFFF">
              <a:alpha val="35000"/>
            </a:srgbClr>
          </a:solidFill>
          <a:ln/>
        </p:spPr>
      </p:sp>
      <p:sp>
        <p:nvSpPr>
          <p:cNvPr id="3" name="Text 1"/>
          <p:cNvSpPr/>
          <p:nvPr/>
        </p:nvSpPr>
        <p:spPr>
          <a:xfrm>
            <a:off x="914400" y="914400"/>
            <a:ext cx="2950639"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40C1AC"/>
                </a:solidFill>
                <a:latin typeface="Segoe UI" pitchFamily="34" charset="0"/>
                <a:ea typeface="Segoe UI" pitchFamily="34" charset="-122"/>
                <a:cs typeface="Segoe UI" pitchFamily="34" charset="-120"/>
              </a:rPr>
              <a:t>DATA &amp; ANALYTICS</a:t>
            </a:r>
            <a:endParaRPr lang="en-US" sz="1800" dirty="0"/>
          </a:p>
        </p:txBody>
      </p:sp>
      <p:sp>
        <p:nvSpPr>
          <p:cNvPr id="4" name="Text 2"/>
          <p:cNvSpPr/>
          <p:nvPr/>
        </p:nvSpPr>
        <p:spPr>
          <a:xfrm>
            <a:off x="15197614" y="914400"/>
            <a:ext cx="2393585" cy="33845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FFFFFF">
                    <a:alpha val="70000"/>
                  </a:srgbClr>
                </a:solidFill>
                <a:latin typeface="Segoe UI" pitchFamily="34" charset="0"/>
                <a:ea typeface="Segoe UI" pitchFamily="34" charset="-122"/>
                <a:cs typeface="Segoe UI" pitchFamily="34" charset="-120"/>
              </a:rPr>
              <a:t>Executive Overview</a:t>
            </a:r>
            <a:endParaRPr lang="en-US" sz="1800" dirty="0"/>
          </a:p>
        </p:txBody>
      </p:sp>
      <p:sp>
        <p:nvSpPr>
          <p:cNvPr id="5" name="Text 3"/>
          <p:cNvSpPr/>
          <p:nvPr/>
        </p:nvSpPr>
        <p:spPr>
          <a:xfrm>
            <a:off x="914400" y="2945289"/>
            <a:ext cx="14716125" cy="2401888"/>
          </a:xfrm>
          <a:prstGeom prst="rect">
            <a:avLst/>
          </a:prstGeom>
          <a:noFill/>
          <a:ln/>
        </p:spPr>
        <p:txBody>
          <a:bodyPr wrap="square" lIns="25400" tIns="25400" rIns="25400" bIns="25400" rtlCol="0" anchor="t">
            <a:normAutofit/>
          </a:bodyPr>
          <a:lstStyle/>
          <a:p>
            <a:pPr algn="l" indent="0" marL="0">
              <a:lnSpc>
                <a:spcPct val="70669"/>
              </a:lnSpc>
              <a:buNone/>
            </a:pPr>
            <a:r>
              <a:rPr lang="en-US" sz="9900" b="1" spc="-297" kern="0" dirty="0">
                <a:solidFill>
                  <a:srgbClr val="FFFFFF"/>
                </a:solidFill>
                <a:latin typeface="Segoe UI" pitchFamily="34" charset="0"/>
                <a:ea typeface="Segoe UI" pitchFamily="34" charset="-122"/>
                <a:cs typeface="Segoe UI" pitchFamily="34" charset="-120"/>
              </a:rPr>
              <a:t>Moving from SAS to Databricks</a:t>
            </a:r>
            <a:endParaRPr lang="en-US" sz="9900" dirty="0"/>
          </a:p>
        </p:txBody>
      </p:sp>
      <p:sp>
        <p:nvSpPr>
          <p:cNvPr id="6" name="Text 4"/>
          <p:cNvSpPr/>
          <p:nvPr/>
        </p:nvSpPr>
        <p:spPr>
          <a:xfrm>
            <a:off x="914400" y="5651976"/>
            <a:ext cx="11576685" cy="1015365"/>
          </a:xfrm>
          <a:prstGeom prst="rect">
            <a:avLst/>
          </a:prstGeom>
          <a:noFill/>
          <a:ln/>
        </p:spPr>
        <p:txBody>
          <a:bodyPr wrap="square" lIns="25400" tIns="25400" rIns="25400" bIns="25400" rtlCol="0" anchor="t">
            <a:normAutofit/>
          </a:bodyPr>
          <a:lstStyle/>
          <a:p>
            <a:pPr algn="l" indent="0" marL="0">
              <a:lnSpc>
                <a:spcPct val="102259"/>
              </a:lnSpc>
              <a:buNone/>
            </a:pPr>
            <a:r>
              <a:rPr lang="en-US" sz="2850" dirty="0">
                <a:solidFill>
                  <a:srgbClr val="FFFFFF">
                    <a:alpha val="82000"/>
                  </a:srgbClr>
                </a:solidFill>
                <a:latin typeface="Segoe UI" pitchFamily="34" charset="0"/>
                <a:ea typeface="Segoe UI" pitchFamily="34" charset="-122"/>
                <a:cs typeface="Segoe UI" pitchFamily="34" charset="-120"/>
              </a:rPr>
              <a:t>A brief outline of current state, ideal state, and the challenges to get there.</a:t>
            </a:r>
            <a:endParaRPr lang="en-US" sz="2850" dirty="0"/>
          </a:p>
        </p:txBody>
      </p:sp>
      <p:sp>
        <p:nvSpPr>
          <p:cNvPr id="7" name="Shape 5"/>
          <p:cNvSpPr/>
          <p:nvPr/>
        </p:nvSpPr>
        <p:spPr>
          <a:xfrm>
            <a:off x="914400" y="8041323"/>
            <a:ext cx="16459200" cy="13652"/>
          </a:xfrm>
          <a:prstGeom prst="rect">
            <a:avLst/>
          </a:prstGeom>
          <a:solidFill>
            <a:srgbClr val="FFFFFF">
              <a:alpha val="35000"/>
            </a:srgbClr>
          </a:solidFill>
          <a:ln/>
        </p:spPr>
      </p:sp>
      <p:sp>
        <p:nvSpPr>
          <p:cNvPr id="8" name="Shape 6"/>
          <p:cNvSpPr/>
          <p:nvPr/>
        </p:nvSpPr>
        <p:spPr>
          <a:xfrm>
            <a:off x="914400" y="8074025"/>
            <a:ext cx="4100513" cy="1298575"/>
          </a:xfrm>
          <a:prstGeom prst="rect">
            <a:avLst/>
          </a:prstGeom>
          <a:solidFill>
            <a:srgbClr val="003B71"/>
          </a:solidFill>
          <a:ln/>
        </p:spPr>
      </p:sp>
      <p:sp>
        <p:nvSpPr>
          <p:cNvPr id="9" name="Text 7"/>
          <p:cNvSpPr/>
          <p:nvPr/>
        </p:nvSpPr>
        <p:spPr>
          <a:xfrm>
            <a:off x="914400" y="8340725"/>
            <a:ext cx="4510564"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40C1AC"/>
                </a:solidFill>
                <a:latin typeface="Segoe UI" pitchFamily="34" charset="0"/>
                <a:ea typeface="Segoe UI" pitchFamily="34" charset="-122"/>
                <a:cs typeface="Segoe UI" pitchFamily="34" charset="-120"/>
              </a:rPr>
              <a:t>DATE</a:t>
            </a:r>
            <a:endParaRPr lang="en-US" sz="1800" dirty="0"/>
          </a:p>
        </p:txBody>
      </p:sp>
      <p:sp>
        <p:nvSpPr>
          <p:cNvPr id="10" name="Text 8"/>
          <p:cNvSpPr/>
          <p:nvPr/>
        </p:nvSpPr>
        <p:spPr>
          <a:xfrm>
            <a:off x="914400" y="8717280"/>
            <a:ext cx="4510564" cy="693420"/>
          </a:xfrm>
          <a:prstGeom prst="rect">
            <a:avLst/>
          </a:prstGeom>
          <a:noFill/>
          <a:ln/>
        </p:spPr>
        <p:txBody>
          <a:bodyPr wrap="square" lIns="25400" tIns="25400" rIns="25400" bIns="25400" rtlCol="0" anchor="t">
            <a:normAutofit/>
          </a:bodyPr>
          <a:lstStyle/>
          <a:p>
            <a:pPr algn="l" indent="0" marL="0">
              <a:buNone/>
            </a:pPr>
            <a:r>
              <a:rPr lang="en-US" sz="3900" b="1" dirty="0">
                <a:solidFill>
                  <a:srgbClr val="FFFFFF"/>
                </a:solidFill>
                <a:latin typeface="Segoe UI" pitchFamily="34" charset="0"/>
                <a:ea typeface="Segoe UI" pitchFamily="34" charset="-122"/>
                <a:cs typeface="Segoe UI" pitchFamily="34" charset="-120"/>
              </a:rPr>
              <a:t>Aug 2026</a:t>
            </a:r>
            <a:endParaRPr lang="en-US" sz="3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2472055"/>
            <a:ext cx="16459200" cy="13652"/>
          </a:xfrm>
          <a:prstGeom prst="rect">
            <a:avLst/>
          </a:prstGeom>
          <a:solidFill>
            <a:srgbClr val="003B71"/>
          </a:solidFill>
          <a:ln/>
        </p:spPr>
      </p:sp>
      <p:sp>
        <p:nvSpPr>
          <p:cNvPr id="3" name="Text 1"/>
          <p:cNvSpPr/>
          <p:nvPr/>
        </p:nvSpPr>
        <p:spPr>
          <a:xfrm>
            <a:off x="914400" y="838200"/>
            <a:ext cx="18105120"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0078B3"/>
                </a:solidFill>
                <a:latin typeface="Segoe UI" pitchFamily="34" charset="0"/>
                <a:ea typeface="Segoe UI" pitchFamily="34" charset="-122"/>
                <a:cs typeface="Segoe UI" pitchFamily="34" charset="-120"/>
              </a:rPr>
              <a:t>PRIORITIZATION SUMMARY</a:t>
            </a:r>
            <a:endParaRPr lang="en-US" sz="1800" dirty="0"/>
          </a:p>
        </p:txBody>
      </p:sp>
      <p:sp>
        <p:nvSpPr>
          <p:cNvPr id="4" name="Text 2"/>
          <p:cNvSpPr/>
          <p:nvPr/>
        </p:nvSpPr>
        <p:spPr>
          <a:xfrm>
            <a:off x="914400" y="1329055"/>
            <a:ext cx="18105120"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003B71"/>
                </a:solidFill>
                <a:latin typeface="Segoe UI" pitchFamily="34" charset="0"/>
                <a:ea typeface="Segoe UI" pitchFamily="34" charset="-122"/>
                <a:cs typeface="Segoe UI" pitchFamily="34" charset="-120"/>
              </a:rPr>
              <a:t>Objective</a:t>
            </a:r>
            <a:endParaRPr lang="en-US" sz="6300" dirty="0"/>
          </a:p>
        </p:txBody>
      </p:sp>
      <p:sp>
        <p:nvSpPr>
          <p:cNvPr id="5" name="Text 3"/>
          <p:cNvSpPr/>
          <p:nvPr/>
        </p:nvSpPr>
        <p:spPr>
          <a:xfrm>
            <a:off x="914400" y="3019108"/>
            <a:ext cx="9288001" cy="1211580"/>
          </a:xfrm>
          <a:prstGeom prst="rect">
            <a:avLst/>
          </a:prstGeom>
          <a:noFill/>
          <a:ln/>
        </p:spPr>
        <p:txBody>
          <a:bodyPr wrap="square" lIns="25400" tIns="25400" rIns="25400" bIns="25400" rtlCol="0" anchor="t">
            <a:normAutofit/>
          </a:bodyPr>
          <a:lstStyle/>
          <a:p>
            <a:pPr algn="l" indent="0" marL="0">
              <a:lnSpc>
                <a:spcPct val="106115"/>
              </a:lnSpc>
              <a:buNone/>
            </a:pPr>
            <a:r>
              <a:rPr lang="en-US" sz="3300" dirty="0">
                <a:solidFill>
                  <a:srgbClr val="201E1D"/>
                </a:solidFill>
                <a:latin typeface="Segoe UI" pitchFamily="34" charset="0"/>
                <a:ea typeface="Segoe UI" pitchFamily="34" charset="-122"/>
                <a:cs typeface="Segoe UI" pitchFamily="34" charset="-120"/>
              </a:rPr>
              <a:t>Focus migration and modernization efforts on </a:t>
            </a:r>
            <a:pPr algn="l" indent="0" marL="0">
              <a:lnSpc>
                <a:spcPct val="106115"/>
              </a:lnSpc>
              <a:buNone/>
            </a:pPr>
            <a:r>
              <a:rPr lang="en-US" sz="3300" b="1" dirty="0">
                <a:solidFill>
                  <a:srgbClr val="003B71"/>
                </a:solidFill>
                <a:latin typeface="Segoe UI" pitchFamily="34" charset="0"/>
                <a:ea typeface="Segoe UI" pitchFamily="34" charset="-122"/>
                <a:cs typeface="Segoe UI" pitchFamily="34" charset="-120"/>
              </a:rPr>
              <a:t>business-critical reports.</a:t>
            </a:r>
            <a:endParaRPr lang="en-US" sz="3300" dirty="0"/>
          </a:p>
        </p:txBody>
      </p:sp>
      <p:sp>
        <p:nvSpPr>
          <p:cNvPr id="6" name="Text 4"/>
          <p:cNvSpPr/>
          <p:nvPr/>
        </p:nvSpPr>
        <p:spPr>
          <a:xfrm>
            <a:off x="914400" y="4497388"/>
            <a:ext cx="9288001" cy="952500"/>
          </a:xfrm>
          <a:prstGeom prst="rect">
            <a:avLst/>
          </a:prstGeom>
          <a:noFill/>
          <a:ln/>
        </p:spPr>
        <p:txBody>
          <a:bodyPr wrap="square" lIns="25400" tIns="25400" rIns="25400" bIns="25400" rtlCol="0" anchor="t">
            <a:normAutofit/>
          </a:bodyPr>
          <a:lstStyle/>
          <a:p>
            <a:pPr algn="l" indent="0" marL="0">
              <a:lnSpc>
                <a:spcPct val="113520"/>
              </a:lnSpc>
              <a:buNone/>
            </a:pPr>
            <a:r>
              <a:rPr lang="en-US" sz="2400" dirty="0">
                <a:solidFill>
                  <a:srgbClr val="4A4746"/>
                </a:solidFill>
                <a:latin typeface="Segoe UI" pitchFamily="34" charset="0"/>
                <a:ea typeface="Segoe UI" pitchFamily="34" charset="-122"/>
                <a:cs typeface="Segoe UI" pitchFamily="34" charset="-120"/>
              </a:rPr>
              <a:t>Priority was assigned from the script inventory — not by team, not by author, and not by ease of migration.</a:t>
            </a:r>
            <a:endParaRPr lang="en-US" sz="2400" dirty="0"/>
          </a:p>
        </p:txBody>
      </p:sp>
      <p:sp>
        <p:nvSpPr>
          <p:cNvPr id="7" name="Shape 5"/>
          <p:cNvSpPr/>
          <p:nvPr/>
        </p:nvSpPr>
        <p:spPr>
          <a:xfrm>
            <a:off x="10693876" y="3019108"/>
            <a:ext cx="6679724" cy="13652"/>
          </a:xfrm>
          <a:prstGeom prst="rect">
            <a:avLst/>
          </a:prstGeom>
          <a:solidFill>
            <a:srgbClr val="003B71"/>
          </a:solidFill>
          <a:ln/>
        </p:spPr>
      </p:sp>
      <p:sp>
        <p:nvSpPr>
          <p:cNvPr id="8" name="Text 6"/>
          <p:cNvSpPr/>
          <p:nvPr/>
        </p:nvSpPr>
        <p:spPr>
          <a:xfrm>
            <a:off x="10693876" y="3261360"/>
            <a:ext cx="6880115"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78B3"/>
                </a:solidFill>
                <a:latin typeface="Segoe UI" pitchFamily="34" charset="0"/>
                <a:ea typeface="Segoe UI" pitchFamily="34" charset="-122"/>
                <a:cs typeface="Segoe UI" pitchFamily="34" charset="-120"/>
              </a:rPr>
              <a:t>PRIORITY CRITERIA</a:t>
            </a:r>
            <a:endParaRPr lang="en-US" sz="1800" dirty="0"/>
          </a:p>
        </p:txBody>
      </p:sp>
      <p:sp>
        <p:nvSpPr>
          <p:cNvPr id="9" name="Shape 7"/>
          <p:cNvSpPr/>
          <p:nvPr/>
        </p:nvSpPr>
        <p:spPr>
          <a:xfrm>
            <a:off x="10693876" y="3752215"/>
            <a:ext cx="6679724" cy="9525"/>
          </a:xfrm>
          <a:prstGeom prst="rect">
            <a:avLst/>
          </a:prstGeom>
          <a:solidFill>
            <a:srgbClr val="D6D4D3"/>
          </a:solidFill>
          <a:ln/>
        </p:spPr>
      </p:sp>
      <p:sp>
        <p:nvSpPr>
          <p:cNvPr id="10" name="Text 8"/>
          <p:cNvSpPr/>
          <p:nvPr/>
        </p:nvSpPr>
        <p:spPr>
          <a:xfrm>
            <a:off x="10693876" y="3949541"/>
            <a:ext cx="6880115" cy="420370"/>
          </a:xfrm>
          <a:prstGeom prst="rect">
            <a:avLst/>
          </a:prstGeom>
          <a:noFill/>
          <a:ln/>
        </p:spPr>
        <p:txBody>
          <a:bodyPr wrap="square" lIns="25400" tIns="25400" rIns="25400" bIns="25400" rtlCol="0" anchor="t">
            <a:normAutofit/>
          </a:bodyPr>
          <a:lstStyle/>
          <a:p>
            <a:pPr algn="l" indent="0" marL="0">
              <a:buNone/>
            </a:pPr>
            <a:r>
              <a:rPr lang="en-US" sz="2250" b="1" dirty="0">
                <a:solidFill>
                  <a:srgbClr val="201E1D"/>
                </a:solidFill>
                <a:latin typeface="Segoe UI" pitchFamily="34" charset="0"/>
                <a:ea typeface="Segoe UI" pitchFamily="34" charset="-122"/>
                <a:cs typeface="Segoe UI" pitchFamily="34" charset="-120"/>
              </a:rPr>
              <a:t>Operational impact</a:t>
            </a:r>
            <a:endParaRPr lang="en-US" sz="2250" dirty="0"/>
          </a:p>
        </p:txBody>
      </p:sp>
      <p:sp>
        <p:nvSpPr>
          <p:cNvPr id="11" name="Shape 9"/>
          <p:cNvSpPr/>
          <p:nvPr/>
        </p:nvSpPr>
        <p:spPr>
          <a:xfrm>
            <a:off x="10693876" y="4522311"/>
            <a:ext cx="6679724" cy="9525"/>
          </a:xfrm>
          <a:prstGeom prst="rect">
            <a:avLst/>
          </a:prstGeom>
          <a:solidFill>
            <a:srgbClr val="D6D4D3"/>
          </a:solidFill>
          <a:ln/>
        </p:spPr>
      </p:sp>
      <p:sp>
        <p:nvSpPr>
          <p:cNvPr id="12" name="Text 10"/>
          <p:cNvSpPr/>
          <p:nvPr/>
        </p:nvSpPr>
        <p:spPr>
          <a:xfrm>
            <a:off x="10693876" y="4719637"/>
            <a:ext cx="6880115" cy="420370"/>
          </a:xfrm>
          <a:prstGeom prst="rect">
            <a:avLst/>
          </a:prstGeom>
          <a:noFill/>
          <a:ln/>
        </p:spPr>
        <p:txBody>
          <a:bodyPr wrap="square" lIns="25400" tIns="25400" rIns="25400" bIns="25400" rtlCol="0" anchor="t">
            <a:normAutofit/>
          </a:bodyPr>
          <a:lstStyle/>
          <a:p>
            <a:pPr algn="l" indent="0" marL="0">
              <a:buNone/>
            </a:pPr>
            <a:r>
              <a:rPr lang="en-US" sz="2250" b="1" dirty="0">
                <a:solidFill>
                  <a:srgbClr val="201E1D"/>
                </a:solidFill>
                <a:latin typeface="Segoe UI" pitchFamily="34" charset="0"/>
                <a:ea typeface="Segoe UI" pitchFamily="34" charset="-122"/>
                <a:cs typeface="Segoe UI" pitchFamily="34" charset="-120"/>
              </a:rPr>
              <a:t>Regulatory dependency</a:t>
            </a:r>
            <a:endParaRPr lang="en-US" sz="2250" dirty="0"/>
          </a:p>
        </p:txBody>
      </p:sp>
      <p:sp>
        <p:nvSpPr>
          <p:cNvPr id="13" name="Shape 11"/>
          <p:cNvSpPr/>
          <p:nvPr/>
        </p:nvSpPr>
        <p:spPr>
          <a:xfrm>
            <a:off x="10693876" y="5292407"/>
            <a:ext cx="6679724" cy="9525"/>
          </a:xfrm>
          <a:prstGeom prst="rect">
            <a:avLst/>
          </a:prstGeom>
          <a:solidFill>
            <a:srgbClr val="D6D4D3"/>
          </a:solidFill>
          <a:ln/>
        </p:spPr>
      </p:sp>
      <p:sp>
        <p:nvSpPr>
          <p:cNvPr id="14" name="Text 12"/>
          <p:cNvSpPr/>
          <p:nvPr/>
        </p:nvSpPr>
        <p:spPr>
          <a:xfrm>
            <a:off x="10693876" y="5489733"/>
            <a:ext cx="6880115" cy="420370"/>
          </a:xfrm>
          <a:prstGeom prst="rect">
            <a:avLst/>
          </a:prstGeom>
          <a:noFill/>
          <a:ln/>
        </p:spPr>
        <p:txBody>
          <a:bodyPr wrap="square" lIns="25400" tIns="25400" rIns="25400" bIns="25400" rtlCol="0" anchor="t">
            <a:normAutofit/>
          </a:bodyPr>
          <a:lstStyle/>
          <a:p>
            <a:pPr algn="l" indent="0" marL="0">
              <a:buNone/>
            </a:pPr>
            <a:r>
              <a:rPr lang="en-US" sz="2250" b="1" dirty="0">
                <a:solidFill>
                  <a:srgbClr val="201E1D"/>
                </a:solidFill>
                <a:latin typeface="Segoe UI" pitchFamily="34" charset="0"/>
                <a:ea typeface="Segoe UI" pitchFamily="34" charset="-122"/>
                <a:cs typeface="Segoe UI" pitchFamily="34" charset="-120"/>
              </a:rPr>
              <a:t>Data mart dependency</a:t>
            </a:r>
            <a:endParaRPr lang="en-US" sz="2250" dirty="0"/>
          </a:p>
        </p:txBody>
      </p:sp>
      <p:sp>
        <p:nvSpPr>
          <p:cNvPr id="15" name="Shape 13"/>
          <p:cNvSpPr/>
          <p:nvPr/>
        </p:nvSpPr>
        <p:spPr>
          <a:xfrm>
            <a:off x="10693876" y="6062504"/>
            <a:ext cx="6679724" cy="9525"/>
          </a:xfrm>
          <a:prstGeom prst="rect">
            <a:avLst/>
          </a:prstGeom>
          <a:solidFill>
            <a:srgbClr val="D6D4D3"/>
          </a:solidFill>
          <a:ln/>
        </p:spPr>
      </p:sp>
      <p:sp>
        <p:nvSpPr>
          <p:cNvPr id="16" name="Text 14"/>
          <p:cNvSpPr/>
          <p:nvPr/>
        </p:nvSpPr>
        <p:spPr>
          <a:xfrm>
            <a:off x="10693876" y="6259830"/>
            <a:ext cx="6880115" cy="420370"/>
          </a:xfrm>
          <a:prstGeom prst="rect">
            <a:avLst/>
          </a:prstGeom>
          <a:noFill/>
          <a:ln/>
        </p:spPr>
        <p:txBody>
          <a:bodyPr wrap="square" lIns="25400" tIns="25400" rIns="25400" bIns="25400" rtlCol="0" anchor="t">
            <a:normAutofit/>
          </a:bodyPr>
          <a:lstStyle/>
          <a:p>
            <a:pPr algn="l" indent="0" marL="0">
              <a:buNone/>
            </a:pPr>
            <a:r>
              <a:rPr lang="en-US" sz="2250" b="1" dirty="0">
                <a:solidFill>
                  <a:srgbClr val="201E1D"/>
                </a:solidFill>
                <a:latin typeface="Segoe UI" pitchFamily="34" charset="0"/>
                <a:ea typeface="Segoe UI" pitchFamily="34" charset="-122"/>
                <a:cs typeface="Segoe UI" pitchFamily="34" charset="-120"/>
              </a:rPr>
              <a:t>Utility</a:t>
            </a:r>
            <a:endParaRPr lang="en-US" sz="2250" dirty="0"/>
          </a:p>
        </p:txBody>
      </p:sp>
      <p:sp>
        <p:nvSpPr>
          <p:cNvPr id="17" name="Shape 15"/>
          <p:cNvSpPr/>
          <p:nvPr/>
        </p:nvSpPr>
        <p:spPr>
          <a:xfrm>
            <a:off x="10693876" y="6832600"/>
            <a:ext cx="6679724" cy="9525"/>
          </a:xfrm>
          <a:prstGeom prst="rect">
            <a:avLst/>
          </a:prstGeom>
          <a:solidFill>
            <a:srgbClr val="D6D4D3"/>
          </a:solidFill>
          <a:ln/>
        </p:spPr>
      </p:sp>
      <p:sp>
        <p:nvSpPr>
          <p:cNvPr id="18" name="Text 16"/>
          <p:cNvSpPr/>
          <p:nvPr/>
        </p:nvSpPr>
        <p:spPr>
          <a:xfrm>
            <a:off x="10693876" y="7029926"/>
            <a:ext cx="6880115" cy="420370"/>
          </a:xfrm>
          <a:prstGeom prst="rect">
            <a:avLst/>
          </a:prstGeom>
          <a:noFill/>
          <a:ln/>
        </p:spPr>
        <p:txBody>
          <a:bodyPr wrap="square" lIns="25400" tIns="25400" rIns="25400" bIns="25400" rtlCol="0" anchor="t">
            <a:normAutofit/>
          </a:bodyPr>
          <a:lstStyle/>
          <a:p>
            <a:pPr algn="l" indent="0" marL="0">
              <a:buNone/>
            </a:pPr>
            <a:r>
              <a:rPr lang="en-US" sz="2250" b="1" dirty="0">
                <a:solidFill>
                  <a:srgbClr val="201E1D"/>
                </a:solidFill>
                <a:latin typeface="Segoe UI" pitchFamily="34" charset="0"/>
                <a:ea typeface="Segoe UI" pitchFamily="34" charset="-122"/>
                <a:cs typeface="Segoe UI" pitchFamily="34" charset="-120"/>
              </a:rPr>
              <a:t>Evidence of active use</a:t>
            </a:r>
            <a:endParaRPr lang="en-US" sz="2250" dirty="0"/>
          </a:p>
        </p:txBody>
      </p:sp>
      <p:sp>
        <p:nvSpPr>
          <p:cNvPr id="19" name="Shape 17"/>
          <p:cNvSpPr/>
          <p:nvPr/>
        </p:nvSpPr>
        <p:spPr>
          <a:xfrm>
            <a:off x="914400" y="8964771"/>
            <a:ext cx="16459200" cy="13652"/>
          </a:xfrm>
          <a:prstGeom prst="rect">
            <a:avLst/>
          </a:prstGeom>
          <a:solidFill>
            <a:srgbClr val="003B71"/>
          </a:solidFill>
          <a:ln/>
        </p:spPr>
      </p:sp>
      <p:sp>
        <p:nvSpPr>
          <p:cNvPr id="20" name="Text 18"/>
          <p:cNvSpPr/>
          <p:nvPr/>
        </p:nvSpPr>
        <p:spPr>
          <a:xfrm>
            <a:off x="914400" y="9168924"/>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21" name="Text 19"/>
          <p:cNvSpPr/>
          <p:nvPr/>
        </p:nvSpPr>
        <p:spPr>
          <a:xfrm>
            <a:off x="17122457" y="9168924"/>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02</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2472055"/>
            <a:ext cx="16459200" cy="13652"/>
          </a:xfrm>
          <a:prstGeom prst="rect">
            <a:avLst/>
          </a:prstGeom>
          <a:solidFill>
            <a:srgbClr val="003B71"/>
          </a:solidFill>
          <a:ln/>
        </p:spPr>
      </p:sp>
      <p:sp>
        <p:nvSpPr>
          <p:cNvPr id="3" name="Text 1"/>
          <p:cNvSpPr/>
          <p:nvPr/>
        </p:nvSpPr>
        <p:spPr>
          <a:xfrm>
            <a:off x="914400" y="838200"/>
            <a:ext cx="5826537"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0078B3"/>
                </a:solidFill>
                <a:latin typeface="Segoe UI" pitchFamily="34" charset="0"/>
                <a:ea typeface="Segoe UI" pitchFamily="34" charset="-122"/>
                <a:cs typeface="Segoe UI" pitchFamily="34" charset="-120"/>
              </a:rPr>
              <a:t>CURRENT STATE</a:t>
            </a:r>
            <a:endParaRPr lang="en-US" sz="1800" dirty="0"/>
          </a:p>
        </p:txBody>
      </p:sp>
      <p:sp>
        <p:nvSpPr>
          <p:cNvPr id="4" name="Text 2"/>
          <p:cNvSpPr/>
          <p:nvPr/>
        </p:nvSpPr>
        <p:spPr>
          <a:xfrm>
            <a:off x="914400" y="1329055"/>
            <a:ext cx="5826537"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003B71"/>
                </a:solidFill>
                <a:latin typeface="Segoe UI" pitchFamily="34" charset="0"/>
                <a:ea typeface="Segoe UI" pitchFamily="34" charset="-122"/>
                <a:cs typeface="Segoe UI" pitchFamily="34" charset="-120"/>
              </a:rPr>
              <a:t>People &amp; Skills</a:t>
            </a:r>
            <a:endParaRPr lang="en-US" sz="6300" dirty="0"/>
          </a:p>
        </p:txBody>
      </p:sp>
      <p:sp>
        <p:nvSpPr>
          <p:cNvPr id="5" name="Shape 3"/>
          <p:cNvSpPr/>
          <p:nvPr/>
        </p:nvSpPr>
        <p:spPr>
          <a:xfrm>
            <a:off x="914400" y="4529773"/>
            <a:ext cx="16459200" cy="9525"/>
          </a:xfrm>
          <a:prstGeom prst="rect">
            <a:avLst/>
          </a:prstGeom>
          <a:solidFill>
            <a:srgbClr val="D6D4D3"/>
          </a:solidFill>
          <a:ln/>
        </p:spPr>
      </p:sp>
      <p:sp>
        <p:nvSpPr>
          <p:cNvPr id="6" name="Text 4"/>
          <p:cNvSpPr/>
          <p:nvPr/>
        </p:nvSpPr>
        <p:spPr>
          <a:xfrm>
            <a:off x="914400" y="3247708"/>
            <a:ext cx="838200" cy="977265"/>
          </a:xfrm>
          <a:prstGeom prst="rect">
            <a:avLst/>
          </a:prstGeom>
          <a:noFill/>
          <a:ln/>
        </p:spPr>
        <p:txBody>
          <a:bodyPr wrap="square" lIns="25400" tIns="25400" rIns="25400" bIns="25400" rtlCol="0" anchor="t">
            <a:normAutofit/>
          </a:bodyPr>
          <a:lstStyle/>
          <a:p>
            <a:pPr algn="l" indent="0" marL="0">
              <a:buNone/>
            </a:pPr>
            <a:r>
              <a:rPr lang="en-US" sz="2550" b="1" dirty="0">
                <a:solidFill>
                  <a:srgbClr val="40C1AC"/>
                </a:solidFill>
                <a:latin typeface="Segoe UI" pitchFamily="34" charset="0"/>
                <a:ea typeface="Segoe UI" pitchFamily="34" charset="-122"/>
                <a:cs typeface="Segoe UI" pitchFamily="34" charset="-120"/>
              </a:rPr>
              <a:t>01</a:t>
            </a:r>
            <a:endParaRPr lang="en-US" sz="2550" dirty="0"/>
          </a:p>
        </p:txBody>
      </p:sp>
      <p:sp>
        <p:nvSpPr>
          <p:cNvPr id="7" name="Text 5"/>
          <p:cNvSpPr/>
          <p:nvPr/>
        </p:nvSpPr>
        <p:spPr>
          <a:xfrm>
            <a:off x="2019300" y="3247708"/>
            <a:ext cx="15814929" cy="977265"/>
          </a:xfrm>
          <a:prstGeom prst="rect">
            <a:avLst/>
          </a:prstGeom>
          <a:noFill/>
          <a:ln/>
        </p:spPr>
        <p:txBody>
          <a:bodyPr wrap="square" lIns="25400" tIns="25400" rIns="25400" bIns="25400" rtlCol="0" anchor="t">
            <a:normAutofit/>
          </a:bodyPr>
          <a:lstStyle/>
          <a:p>
            <a:pPr algn="l" indent="0" marL="0">
              <a:lnSpc>
                <a:spcPct val="109192"/>
              </a:lnSpc>
              <a:buNone/>
            </a:pPr>
            <a:r>
              <a:rPr lang="en-US" sz="2550" dirty="0">
                <a:solidFill>
                  <a:srgbClr val="201E1D"/>
                </a:solidFill>
                <a:latin typeface="Segoe UI" pitchFamily="34" charset="0"/>
                <a:ea typeface="Segoe UI" pitchFamily="34" charset="-122"/>
                <a:cs typeface="Segoe UI" pitchFamily="34" charset="-120"/>
              </a:rPr>
              <a:t>Regulatory reporting is managed by a small group of maintainers, each owning their own domain. Two common skills across the group: </a:t>
            </a:r>
            <a:pPr algn="l" indent="0" marL="0">
              <a:lnSpc>
                <a:spcPct val="109192"/>
              </a:lnSpc>
              <a:buNone/>
            </a:pPr>
            <a:r>
              <a:rPr lang="en-US" sz="2550" b="1" dirty="0">
                <a:solidFill>
                  <a:srgbClr val="003B71"/>
                </a:solidFill>
                <a:latin typeface="Segoe UI" pitchFamily="34" charset="0"/>
                <a:ea typeface="Segoe UI" pitchFamily="34" charset="-122"/>
                <a:cs typeface="Segoe UI" pitchFamily="34" charset="-120"/>
              </a:rPr>
              <a:t>SQL and SAS </a:t>
            </a:r>
            <a:pPr algn="l" indent="0" marL="0">
              <a:lnSpc>
                <a:spcPct val="109192"/>
              </a:lnSpc>
              <a:buNone/>
            </a:pPr>
            <a:r>
              <a:rPr lang="en-US" sz="2550" dirty="0">
                <a:solidFill>
                  <a:srgbClr val="201E1D"/>
                </a:solidFill>
                <a:latin typeface="Segoe UI" pitchFamily="34" charset="0"/>
                <a:ea typeface="Segoe UI" pitchFamily="34" charset="-122"/>
                <a:cs typeface="Segoe UI" pitchFamily="34" charset="-120"/>
              </a:rPr>
              <a:t>— the future state requires </a:t>
            </a:r>
            <a:pPr algn="l" indent="0" marL="0">
              <a:lnSpc>
                <a:spcPct val="109192"/>
              </a:lnSpc>
              <a:buNone/>
            </a:pPr>
            <a:r>
              <a:rPr lang="en-US" sz="2550" b="1" dirty="0">
                <a:solidFill>
                  <a:srgbClr val="003B71"/>
                </a:solidFill>
                <a:latin typeface="Segoe UI" pitchFamily="34" charset="0"/>
                <a:ea typeface="Segoe UI" pitchFamily="34" charset="-122"/>
                <a:cs typeface="Segoe UI" pitchFamily="34" charset="-120"/>
              </a:rPr>
              <a:t>SQL and Python.</a:t>
            </a:r>
            <a:endParaRPr lang="en-US" sz="2550" dirty="0"/>
          </a:p>
        </p:txBody>
      </p:sp>
      <p:sp>
        <p:nvSpPr>
          <p:cNvPr id="8" name="Shape 6"/>
          <p:cNvSpPr/>
          <p:nvPr/>
        </p:nvSpPr>
        <p:spPr>
          <a:xfrm>
            <a:off x="914400" y="5691981"/>
            <a:ext cx="16459200" cy="9525"/>
          </a:xfrm>
          <a:prstGeom prst="rect">
            <a:avLst/>
          </a:prstGeom>
          <a:solidFill>
            <a:srgbClr val="D6D4D3"/>
          </a:solidFill>
          <a:ln/>
        </p:spPr>
      </p:sp>
      <p:sp>
        <p:nvSpPr>
          <p:cNvPr id="9" name="Text 7"/>
          <p:cNvSpPr/>
          <p:nvPr/>
        </p:nvSpPr>
        <p:spPr>
          <a:xfrm>
            <a:off x="914400" y="4879499"/>
            <a:ext cx="838200" cy="507682"/>
          </a:xfrm>
          <a:prstGeom prst="rect">
            <a:avLst/>
          </a:prstGeom>
          <a:noFill/>
          <a:ln/>
        </p:spPr>
        <p:txBody>
          <a:bodyPr wrap="square" lIns="25400" tIns="25400" rIns="25400" bIns="25400" rtlCol="0" anchor="t">
            <a:normAutofit/>
          </a:bodyPr>
          <a:lstStyle/>
          <a:p>
            <a:pPr algn="l" indent="0" marL="0">
              <a:buNone/>
            </a:pPr>
            <a:r>
              <a:rPr lang="en-US" sz="2550" b="1" dirty="0">
                <a:solidFill>
                  <a:srgbClr val="40C1AC"/>
                </a:solidFill>
                <a:latin typeface="Segoe UI" pitchFamily="34" charset="0"/>
                <a:ea typeface="Segoe UI" pitchFamily="34" charset="-122"/>
                <a:cs typeface="Segoe UI" pitchFamily="34" charset="-120"/>
              </a:rPr>
              <a:t>02</a:t>
            </a:r>
            <a:endParaRPr lang="en-US" sz="2550" dirty="0"/>
          </a:p>
        </p:txBody>
      </p:sp>
      <p:sp>
        <p:nvSpPr>
          <p:cNvPr id="10" name="Text 8"/>
          <p:cNvSpPr/>
          <p:nvPr/>
        </p:nvSpPr>
        <p:spPr>
          <a:xfrm>
            <a:off x="2019300" y="4879499"/>
            <a:ext cx="16889730" cy="507682"/>
          </a:xfrm>
          <a:prstGeom prst="rect">
            <a:avLst/>
          </a:prstGeom>
          <a:noFill/>
          <a:ln/>
        </p:spPr>
        <p:txBody>
          <a:bodyPr wrap="square" lIns="25400" tIns="25400" rIns="25400" bIns="25400" rtlCol="0" anchor="t">
            <a:normAutofit/>
          </a:bodyPr>
          <a:lstStyle/>
          <a:p>
            <a:pPr algn="l" indent="0" marL="0">
              <a:lnSpc>
                <a:spcPct val="109192"/>
              </a:lnSpc>
              <a:buNone/>
            </a:pPr>
            <a:r>
              <a:rPr lang="en-US" sz="2550" dirty="0">
                <a:solidFill>
                  <a:srgbClr val="201E1D"/>
                </a:solidFill>
                <a:latin typeface="Segoe UI" pitchFamily="34" charset="0"/>
                <a:ea typeface="Segoe UI" pitchFamily="34" charset="-122"/>
                <a:cs typeface="Segoe UI" pitchFamily="34" charset="-120"/>
              </a:rPr>
              <a:t>Maintainers are </a:t>
            </a:r>
            <a:pPr algn="l" indent="0" marL="0">
              <a:lnSpc>
                <a:spcPct val="109192"/>
              </a:lnSpc>
              <a:buNone/>
            </a:pPr>
            <a:r>
              <a:rPr lang="en-US" sz="2550" b="1" dirty="0">
                <a:solidFill>
                  <a:srgbClr val="0078B3"/>
                </a:solidFill>
                <a:latin typeface="Segoe UI" pitchFamily="34" charset="0"/>
                <a:ea typeface="Segoe UI" pitchFamily="34" charset="-122"/>
                <a:cs typeface="Segoe UI" pitchFamily="34" charset="-120"/>
              </a:rPr>
              <a:t>person1, person2, person3</a:t>
            </a:r>
            <a:endParaRPr lang="en-US" sz="2550" dirty="0"/>
          </a:p>
        </p:txBody>
      </p:sp>
      <p:sp>
        <p:nvSpPr>
          <p:cNvPr id="11" name="Shape 9"/>
          <p:cNvSpPr/>
          <p:nvPr/>
        </p:nvSpPr>
        <p:spPr>
          <a:xfrm>
            <a:off x="914400" y="7323772"/>
            <a:ext cx="16459200" cy="9525"/>
          </a:xfrm>
          <a:prstGeom prst="rect">
            <a:avLst/>
          </a:prstGeom>
          <a:solidFill>
            <a:srgbClr val="D6D4D3"/>
          </a:solidFill>
          <a:ln/>
        </p:spPr>
      </p:sp>
      <p:sp>
        <p:nvSpPr>
          <p:cNvPr id="12" name="Text 10"/>
          <p:cNvSpPr/>
          <p:nvPr/>
        </p:nvSpPr>
        <p:spPr>
          <a:xfrm>
            <a:off x="914400" y="6041707"/>
            <a:ext cx="838200" cy="977265"/>
          </a:xfrm>
          <a:prstGeom prst="rect">
            <a:avLst/>
          </a:prstGeom>
          <a:noFill/>
          <a:ln/>
        </p:spPr>
        <p:txBody>
          <a:bodyPr wrap="square" lIns="25400" tIns="25400" rIns="25400" bIns="25400" rtlCol="0" anchor="t">
            <a:normAutofit/>
          </a:bodyPr>
          <a:lstStyle/>
          <a:p>
            <a:pPr algn="l" indent="0" marL="0">
              <a:buNone/>
            </a:pPr>
            <a:r>
              <a:rPr lang="en-US" sz="2550" b="1" dirty="0">
                <a:solidFill>
                  <a:srgbClr val="40C1AC"/>
                </a:solidFill>
                <a:latin typeface="Segoe UI" pitchFamily="34" charset="0"/>
                <a:ea typeface="Segoe UI" pitchFamily="34" charset="-122"/>
                <a:cs typeface="Segoe UI" pitchFamily="34" charset="-120"/>
              </a:rPr>
              <a:t>03</a:t>
            </a:r>
            <a:endParaRPr lang="en-US" sz="2550" dirty="0"/>
          </a:p>
        </p:txBody>
      </p:sp>
      <p:sp>
        <p:nvSpPr>
          <p:cNvPr id="13" name="Text 11"/>
          <p:cNvSpPr/>
          <p:nvPr/>
        </p:nvSpPr>
        <p:spPr>
          <a:xfrm>
            <a:off x="2019300" y="6041707"/>
            <a:ext cx="15814929" cy="977265"/>
          </a:xfrm>
          <a:prstGeom prst="rect">
            <a:avLst/>
          </a:prstGeom>
          <a:noFill/>
          <a:ln/>
        </p:spPr>
        <p:txBody>
          <a:bodyPr wrap="square" lIns="25400" tIns="25400" rIns="25400" bIns="25400" rtlCol="0" anchor="t">
            <a:normAutofit/>
          </a:bodyPr>
          <a:lstStyle/>
          <a:p>
            <a:pPr algn="l" indent="0" marL="0">
              <a:lnSpc>
                <a:spcPct val="109192"/>
              </a:lnSpc>
              <a:buNone/>
            </a:pPr>
            <a:r>
              <a:rPr lang="en-US" sz="2550" dirty="0">
                <a:solidFill>
                  <a:srgbClr val="201E1D"/>
                </a:solidFill>
                <a:latin typeface="Segoe UI" pitchFamily="34" charset="0"/>
                <a:ea typeface="Segoe UI" pitchFamily="34" charset="-122"/>
                <a:cs typeface="Segoe UI" pitchFamily="34" charset="-120"/>
              </a:rPr>
              <a:t>Report maintainers have little time to dedicate to learning Databricks, Python and Git, or to experimentation and project management.</a:t>
            </a:r>
            <a:endParaRPr lang="en-US" sz="2550" dirty="0"/>
          </a:p>
        </p:txBody>
      </p:sp>
      <p:sp>
        <p:nvSpPr>
          <p:cNvPr id="14" name="Shape 12"/>
          <p:cNvSpPr/>
          <p:nvPr/>
        </p:nvSpPr>
        <p:spPr>
          <a:xfrm>
            <a:off x="914400" y="8964771"/>
            <a:ext cx="16459200" cy="13652"/>
          </a:xfrm>
          <a:prstGeom prst="rect">
            <a:avLst/>
          </a:prstGeom>
          <a:solidFill>
            <a:srgbClr val="003B71"/>
          </a:solidFill>
          <a:ln/>
        </p:spPr>
      </p:sp>
      <p:sp>
        <p:nvSpPr>
          <p:cNvPr id="15" name="Text 13"/>
          <p:cNvSpPr/>
          <p:nvPr/>
        </p:nvSpPr>
        <p:spPr>
          <a:xfrm>
            <a:off x="914400" y="9168924"/>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16" name="Text 14"/>
          <p:cNvSpPr/>
          <p:nvPr/>
        </p:nvSpPr>
        <p:spPr>
          <a:xfrm>
            <a:off x="17122457" y="9168924"/>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03</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2472055"/>
            <a:ext cx="16459200" cy="13652"/>
          </a:xfrm>
          <a:prstGeom prst="rect">
            <a:avLst/>
          </a:prstGeom>
          <a:solidFill>
            <a:srgbClr val="003B71"/>
          </a:solidFill>
          <a:ln/>
        </p:spPr>
      </p:sp>
      <p:sp>
        <p:nvSpPr>
          <p:cNvPr id="3" name="Text 1"/>
          <p:cNvSpPr/>
          <p:nvPr/>
        </p:nvSpPr>
        <p:spPr>
          <a:xfrm>
            <a:off x="914400" y="838200"/>
            <a:ext cx="8841089"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0078B3"/>
                </a:solidFill>
                <a:latin typeface="Segoe UI" pitchFamily="34" charset="0"/>
                <a:ea typeface="Segoe UI" pitchFamily="34" charset="-122"/>
                <a:cs typeface="Segoe UI" pitchFamily="34" charset="-120"/>
              </a:rPr>
              <a:t>CURRENT STATE</a:t>
            </a:r>
            <a:endParaRPr lang="en-US" sz="1800" dirty="0"/>
          </a:p>
        </p:txBody>
      </p:sp>
      <p:sp>
        <p:nvSpPr>
          <p:cNvPr id="4" name="Text 2"/>
          <p:cNvSpPr/>
          <p:nvPr/>
        </p:nvSpPr>
        <p:spPr>
          <a:xfrm>
            <a:off x="914400" y="1329055"/>
            <a:ext cx="8841089"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003B71"/>
                </a:solidFill>
                <a:latin typeface="Segoe UI" pitchFamily="34" charset="0"/>
                <a:ea typeface="Segoe UI" pitchFamily="34" charset="-122"/>
                <a:cs typeface="Segoe UI" pitchFamily="34" charset="-120"/>
              </a:rPr>
              <a:t>Tooling &amp; Throughput</a:t>
            </a:r>
            <a:endParaRPr lang="en-US" sz="6300" dirty="0"/>
          </a:p>
        </p:txBody>
      </p:sp>
      <p:sp>
        <p:nvSpPr>
          <p:cNvPr id="5" name="Shape 3"/>
          <p:cNvSpPr/>
          <p:nvPr/>
        </p:nvSpPr>
        <p:spPr>
          <a:xfrm>
            <a:off x="914400" y="4060190"/>
            <a:ext cx="16459200" cy="9525"/>
          </a:xfrm>
          <a:prstGeom prst="rect">
            <a:avLst/>
          </a:prstGeom>
          <a:solidFill>
            <a:srgbClr val="D6D4D3"/>
          </a:solidFill>
          <a:ln/>
        </p:spPr>
      </p:sp>
      <p:sp>
        <p:nvSpPr>
          <p:cNvPr id="6" name="Text 4"/>
          <p:cNvSpPr/>
          <p:nvPr/>
        </p:nvSpPr>
        <p:spPr>
          <a:xfrm>
            <a:off x="914400" y="3247708"/>
            <a:ext cx="838200" cy="507683"/>
          </a:xfrm>
          <a:prstGeom prst="rect">
            <a:avLst/>
          </a:prstGeom>
          <a:noFill/>
          <a:ln/>
        </p:spPr>
        <p:txBody>
          <a:bodyPr wrap="square" lIns="25400" tIns="25400" rIns="25400" bIns="25400" rtlCol="0" anchor="t">
            <a:normAutofit/>
          </a:bodyPr>
          <a:lstStyle/>
          <a:p>
            <a:pPr algn="l" indent="0" marL="0">
              <a:buNone/>
            </a:pPr>
            <a:r>
              <a:rPr lang="en-US" sz="2550" b="1" dirty="0">
                <a:solidFill>
                  <a:srgbClr val="40C1AC"/>
                </a:solidFill>
                <a:latin typeface="Segoe UI" pitchFamily="34" charset="0"/>
                <a:ea typeface="Segoe UI" pitchFamily="34" charset="-122"/>
                <a:cs typeface="Segoe UI" pitchFamily="34" charset="-120"/>
              </a:rPr>
              <a:t>04</a:t>
            </a:r>
            <a:endParaRPr lang="en-US" sz="2550" dirty="0"/>
          </a:p>
        </p:txBody>
      </p:sp>
      <p:sp>
        <p:nvSpPr>
          <p:cNvPr id="7" name="Text 5"/>
          <p:cNvSpPr/>
          <p:nvPr/>
        </p:nvSpPr>
        <p:spPr>
          <a:xfrm>
            <a:off x="2019300" y="3247708"/>
            <a:ext cx="16889730" cy="507683"/>
          </a:xfrm>
          <a:prstGeom prst="rect">
            <a:avLst/>
          </a:prstGeom>
          <a:noFill/>
          <a:ln/>
        </p:spPr>
        <p:txBody>
          <a:bodyPr wrap="square" lIns="25400" tIns="25400" rIns="25400" bIns="25400" rtlCol="0" anchor="t">
            <a:normAutofit/>
          </a:bodyPr>
          <a:lstStyle/>
          <a:p>
            <a:pPr algn="l" indent="0" marL="0">
              <a:lnSpc>
                <a:spcPct val="109192"/>
              </a:lnSpc>
              <a:buNone/>
            </a:pPr>
            <a:r>
              <a:rPr lang="en-US" sz="2550" dirty="0">
                <a:solidFill>
                  <a:srgbClr val="201E1D"/>
                </a:solidFill>
                <a:latin typeface="Segoe UI" pitchFamily="34" charset="0"/>
                <a:ea typeface="Segoe UI" pitchFamily="34" charset="-122"/>
                <a:cs typeface="Segoe UI" pitchFamily="34" charset="-120"/>
              </a:rPr>
              <a:t>Scripts need constant maintenance due to shifting requirements, user error, and upstream changes.</a:t>
            </a:r>
            <a:endParaRPr lang="en-US" sz="2550" dirty="0"/>
          </a:p>
        </p:txBody>
      </p:sp>
      <p:sp>
        <p:nvSpPr>
          <p:cNvPr id="8" name="Shape 6"/>
          <p:cNvSpPr/>
          <p:nvPr/>
        </p:nvSpPr>
        <p:spPr>
          <a:xfrm>
            <a:off x="914400" y="5222399"/>
            <a:ext cx="16459200" cy="9525"/>
          </a:xfrm>
          <a:prstGeom prst="rect">
            <a:avLst/>
          </a:prstGeom>
          <a:solidFill>
            <a:srgbClr val="D6D4D3"/>
          </a:solidFill>
          <a:ln/>
        </p:spPr>
      </p:sp>
      <p:sp>
        <p:nvSpPr>
          <p:cNvPr id="9" name="Text 7"/>
          <p:cNvSpPr/>
          <p:nvPr/>
        </p:nvSpPr>
        <p:spPr>
          <a:xfrm>
            <a:off x="914400" y="4409916"/>
            <a:ext cx="838200" cy="507683"/>
          </a:xfrm>
          <a:prstGeom prst="rect">
            <a:avLst/>
          </a:prstGeom>
          <a:noFill/>
          <a:ln/>
        </p:spPr>
        <p:txBody>
          <a:bodyPr wrap="square" lIns="25400" tIns="25400" rIns="25400" bIns="25400" rtlCol="0" anchor="t">
            <a:normAutofit/>
          </a:bodyPr>
          <a:lstStyle/>
          <a:p>
            <a:pPr algn="l" indent="0" marL="0">
              <a:buNone/>
            </a:pPr>
            <a:r>
              <a:rPr lang="en-US" sz="2550" b="1" dirty="0">
                <a:solidFill>
                  <a:srgbClr val="40C1AC"/>
                </a:solidFill>
                <a:latin typeface="Segoe UI" pitchFamily="34" charset="0"/>
                <a:ea typeface="Segoe UI" pitchFamily="34" charset="-122"/>
                <a:cs typeface="Segoe UI" pitchFamily="34" charset="-120"/>
              </a:rPr>
              <a:t>05</a:t>
            </a:r>
            <a:endParaRPr lang="en-US" sz="2550" dirty="0"/>
          </a:p>
        </p:txBody>
      </p:sp>
      <p:sp>
        <p:nvSpPr>
          <p:cNvPr id="10" name="Text 8"/>
          <p:cNvSpPr/>
          <p:nvPr/>
        </p:nvSpPr>
        <p:spPr>
          <a:xfrm>
            <a:off x="2019300" y="4409916"/>
            <a:ext cx="16889730" cy="507683"/>
          </a:xfrm>
          <a:prstGeom prst="rect">
            <a:avLst/>
          </a:prstGeom>
          <a:noFill/>
          <a:ln/>
        </p:spPr>
        <p:txBody>
          <a:bodyPr wrap="square" lIns="25400" tIns="25400" rIns="25400" bIns="25400" rtlCol="0" anchor="t">
            <a:normAutofit/>
          </a:bodyPr>
          <a:lstStyle/>
          <a:p>
            <a:pPr algn="l" indent="0" marL="0">
              <a:lnSpc>
                <a:spcPct val="109192"/>
              </a:lnSpc>
              <a:buNone/>
            </a:pPr>
            <a:r>
              <a:rPr lang="en-US" sz="2550" dirty="0">
                <a:solidFill>
                  <a:srgbClr val="201E1D"/>
                </a:solidFill>
                <a:latin typeface="Segoe UI" pitchFamily="34" charset="0"/>
                <a:ea typeface="Segoe UI" pitchFamily="34" charset="-122"/>
                <a:cs typeface="Segoe UI" pitchFamily="34" charset="-120"/>
              </a:rPr>
              <a:t>The only ubiquitous AI tool is CoPilot.</a:t>
            </a:r>
            <a:endParaRPr lang="en-US" sz="2550" dirty="0"/>
          </a:p>
        </p:txBody>
      </p:sp>
      <p:sp>
        <p:nvSpPr>
          <p:cNvPr id="11" name="Shape 9"/>
          <p:cNvSpPr/>
          <p:nvPr/>
        </p:nvSpPr>
        <p:spPr>
          <a:xfrm>
            <a:off x="914400" y="6384607"/>
            <a:ext cx="16459200" cy="9525"/>
          </a:xfrm>
          <a:prstGeom prst="rect">
            <a:avLst/>
          </a:prstGeom>
          <a:solidFill>
            <a:srgbClr val="D6D4D3"/>
          </a:solidFill>
          <a:ln/>
        </p:spPr>
      </p:sp>
      <p:sp>
        <p:nvSpPr>
          <p:cNvPr id="12" name="Text 10"/>
          <p:cNvSpPr/>
          <p:nvPr/>
        </p:nvSpPr>
        <p:spPr>
          <a:xfrm>
            <a:off x="914400" y="5572125"/>
            <a:ext cx="838200" cy="507683"/>
          </a:xfrm>
          <a:prstGeom prst="rect">
            <a:avLst/>
          </a:prstGeom>
          <a:noFill/>
          <a:ln/>
        </p:spPr>
        <p:txBody>
          <a:bodyPr wrap="square" lIns="25400" tIns="25400" rIns="25400" bIns="25400" rtlCol="0" anchor="t">
            <a:normAutofit/>
          </a:bodyPr>
          <a:lstStyle/>
          <a:p>
            <a:pPr algn="l" indent="0" marL="0">
              <a:buNone/>
            </a:pPr>
            <a:r>
              <a:rPr lang="en-US" sz="2550" b="1" dirty="0">
                <a:solidFill>
                  <a:srgbClr val="40C1AC"/>
                </a:solidFill>
                <a:latin typeface="Segoe UI" pitchFamily="34" charset="0"/>
                <a:ea typeface="Segoe UI" pitchFamily="34" charset="-122"/>
                <a:cs typeface="Segoe UI" pitchFamily="34" charset="-120"/>
              </a:rPr>
              <a:t>06</a:t>
            </a:r>
            <a:endParaRPr lang="en-US" sz="2550" dirty="0"/>
          </a:p>
        </p:txBody>
      </p:sp>
      <p:sp>
        <p:nvSpPr>
          <p:cNvPr id="13" name="Text 11"/>
          <p:cNvSpPr/>
          <p:nvPr/>
        </p:nvSpPr>
        <p:spPr>
          <a:xfrm>
            <a:off x="2019300" y="5572125"/>
            <a:ext cx="16889730" cy="507683"/>
          </a:xfrm>
          <a:prstGeom prst="rect">
            <a:avLst/>
          </a:prstGeom>
          <a:noFill/>
          <a:ln/>
        </p:spPr>
        <p:txBody>
          <a:bodyPr wrap="square" lIns="25400" tIns="25400" rIns="25400" bIns="25400" rtlCol="0" anchor="t">
            <a:normAutofit/>
          </a:bodyPr>
          <a:lstStyle/>
          <a:p>
            <a:pPr algn="l" indent="0" marL="0">
              <a:lnSpc>
                <a:spcPct val="109192"/>
              </a:lnSpc>
              <a:buNone/>
            </a:pPr>
            <a:r>
              <a:rPr lang="en-US" sz="2550" dirty="0">
                <a:solidFill>
                  <a:srgbClr val="201E1D"/>
                </a:solidFill>
                <a:latin typeface="Segoe UI" pitchFamily="34" charset="0"/>
                <a:ea typeface="Segoe UI" pitchFamily="34" charset="-122"/>
                <a:cs typeface="Segoe UI" pitchFamily="34" charset="-120"/>
              </a:rPr>
              <a:t>A single script transfer takes anywhere from </a:t>
            </a:r>
            <a:pPr algn="l" indent="0" marL="0">
              <a:lnSpc>
                <a:spcPct val="109192"/>
              </a:lnSpc>
              <a:buNone/>
            </a:pPr>
            <a:r>
              <a:rPr lang="en-US" sz="2550" b="1" dirty="0">
                <a:solidFill>
                  <a:srgbClr val="003B71"/>
                </a:solidFill>
                <a:latin typeface="Segoe UI" pitchFamily="34" charset="0"/>
                <a:ea typeface="Segoe UI" pitchFamily="34" charset="-122"/>
                <a:cs typeface="Segoe UI" pitchFamily="34" charset="-120"/>
              </a:rPr>
              <a:t>2 days to 2 weeks</a:t>
            </a:r>
            <a:pPr algn="l" indent="0" marL="0">
              <a:lnSpc>
                <a:spcPct val="109192"/>
              </a:lnSpc>
              <a:buNone/>
            </a:pPr>
            <a:r>
              <a:rPr lang="en-US" sz="2550" dirty="0">
                <a:solidFill>
                  <a:srgbClr val="201E1D"/>
                </a:solidFill>
                <a:latin typeface="Segoe UI" pitchFamily="34" charset="0"/>
                <a:ea typeface="Segoe UI" pitchFamily="34" charset="-122"/>
                <a:cs typeface="Segoe UI" pitchFamily="34" charset="-120"/>
              </a:rPr>
              <a:t>, depending on system experience.</a:t>
            </a:r>
            <a:endParaRPr lang="en-US" sz="2550" dirty="0"/>
          </a:p>
        </p:txBody>
      </p:sp>
      <p:sp>
        <p:nvSpPr>
          <p:cNvPr id="14" name="Shape 12"/>
          <p:cNvSpPr/>
          <p:nvPr/>
        </p:nvSpPr>
        <p:spPr>
          <a:xfrm>
            <a:off x="914400" y="6734334"/>
            <a:ext cx="16459200" cy="1409700"/>
          </a:xfrm>
          <a:prstGeom prst="rect">
            <a:avLst/>
          </a:prstGeom>
          <a:solidFill>
            <a:srgbClr val="003B71"/>
          </a:solidFill>
          <a:ln/>
        </p:spPr>
      </p:sp>
      <p:sp>
        <p:nvSpPr>
          <p:cNvPr id="15" name="Text 13"/>
          <p:cNvSpPr/>
          <p:nvPr/>
        </p:nvSpPr>
        <p:spPr>
          <a:xfrm>
            <a:off x="1295400" y="7275354"/>
            <a:ext cx="2099342" cy="365760"/>
          </a:xfrm>
          <a:prstGeom prst="rect">
            <a:avLst/>
          </a:prstGeom>
          <a:noFill/>
          <a:ln/>
        </p:spPr>
        <p:txBody>
          <a:bodyPr wrap="none" lIns="25400" tIns="25400" rIns="25400" bIns="25400" rtlCol="0" anchor="t">
            <a:normAutofit/>
          </a:bodyPr>
          <a:lstStyle/>
          <a:p>
            <a:pPr algn="l" indent="0" marL="0">
              <a:buNone/>
            </a:pPr>
            <a:r>
              <a:rPr lang="en-US" sz="1950" b="1" spc="273" kern="0" dirty="0">
                <a:solidFill>
                  <a:srgbClr val="40C1AC"/>
                </a:solidFill>
                <a:latin typeface="Segoe UI" pitchFamily="34" charset="0"/>
                <a:ea typeface="Segoe UI" pitchFamily="34" charset="-122"/>
                <a:cs typeface="Segoe UI" pitchFamily="34" charset="-120"/>
              </a:rPr>
              <a:t>IMPLICATION</a:t>
            </a:r>
            <a:endParaRPr lang="en-US" sz="1950" dirty="0"/>
          </a:p>
        </p:txBody>
      </p:sp>
      <p:sp>
        <p:nvSpPr>
          <p:cNvPr id="16" name="Text 14"/>
          <p:cNvSpPr/>
          <p:nvPr/>
        </p:nvSpPr>
        <p:spPr>
          <a:xfrm>
            <a:off x="3508693" y="7039134"/>
            <a:ext cx="13888424" cy="838200"/>
          </a:xfrm>
          <a:prstGeom prst="rect">
            <a:avLst/>
          </a:prstGeom>
          <a:noFill/>
          <a:ln/>
        </p:spPr>
        <p:txBody>
          <a:bodyPr wrap="square" lIns="25400" tIns="25400" rIns="25400" bIns="25400" rtlCol="0" anchor="t">
            <a:normAutofit/>
          </a:bodyPr>
          <a:lstStyle/>
          <a:p>
            <a:pPr algn="l" indent="0" marL="0">
              <a:lnSpc>
                <a:spcPct val="104651"/>
              </a:lnSpc>
              <a:buNone/>
            </a:pPr>
            <a:r>
              <a:rPr lang="en-US" sz="2250" dirty="0">
                <a:solidFill>
                  <a:srgbClr val="FFFFFF"/>
                </a:solidFill>
                <a:latin typeface="Segoe UI" pitchFamily="34" charset="0"/>
                <a:ea typeface="Segoe UI" pitchFamily="34" charset="-122"/>
                <a:cs typeface="Segoe UI" pitchFamily="34" charset="-120"/>
              </a:rPr>
              <a:t>At current throughput, 50 high-priority scripts alone represent a multi-quarter effort, pushing the team up against Q4 2027 deadline.</a:t>
            </a:r>
            <a:endParaRPr lang="en-US" sz="2250" dirty="0"/>
          </a:p>
        </p:txBody>
      </p:sp>
      <p:sp>
        <p:nvSpPr>
          <p:cNvPr id="17" name="Shape 15"/>
          <p:cNvSpPr/>
          <p:nvPr/>
        </p:nvSpPr>
        <p:spPr>
          <a:xfrm>
            <a:off x="914400" y="8964771"/>
            <a:ext cx="16459200" cy="13652"/>
          </a:xfrm>
          <a:prstGeom prst="rect">
            <a:avLst/>
          </a:prstGeom>
          <a:solidFill>
            <a:srgbClr val="003B71"/>
          </a:solidFill>
          <a:ln/>
        </p:spPr>
      </p:sp>
      <p:sp>
        <p:nvSpPr>
          <p:cNvPr id="18" name="Text 16"/>
          <p:cNvSpPr/>
          <p:nvPr/>
        </p:nvSpPr>
        <p:spPr>
          <a:xfrm>
            <a:off x="914400" y="9168924"/>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19" name="Text 17"/>
          <p:cNvSpPr/>
          <p:nvPr/>
        </p:nvSpPr>
        <p:spPr>
          <a:xfrm>
            <a:off x="17122457" y="9168924"/>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04</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2472055"/>
            <a:ext cx="16459200" cy="13652"/>
          </a:xfrm>
          <a:prstGeom prst="rect">
            <a:avLst/>
          </a:prstGeom>
          <a:solidFill>
            <a:srgbClr val="003B71"/>
          </a:solidFill>
          <a:ln/>
        </p:spPr>
      </p:sp>
      <p:sp>
        <p:nvSpPr>
          <p:cNvPr id="3" name="Text 1"/>
          <p:cNvSpPr/>
          <p:nvPr/>
        </p:nvSpPr>
        <p:spPr>
          <a:xfrm>
            <a:off x="914400" y="838200"/>
            <a:ext cx="10169112"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0078B3"/>
                </a:solidFill>
                <a:latin typeface="Segoe UI" pitchFamily="34" charset="0"/>
                <a:ea typeface="Segoe UI" pitchFamily="34" charset="-122"/>
                <a:cs typeface="Segoe UI" pitchFamily="34" charset="-120"/>
              </a:rPr>
              <a:t>IDEAL FUTURE STATE</a:t>
            </a:r>
            <a:endParaRPr lang="en-US" sz="1800" dirty="0"/>
          </a:p>
        </p:txBody>
      </p:sp>
      <p:sp>
        <p:nvSpPr>
          <p:cNvPr id="4" name="Text 2"/>
          <p:cNvSpPr/>
          <p:nvPr/>
        </p:nvSpPr>
        <p:spPr>
          <a:xfrm>
            <a:off x="914400" y="1329055"/>
            <a:ext cx="10169112"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003B71"/>
                </a:solidFill>
                <a:latin typeface="Segoe UI" pitchFamily="34" charset="0"/>
                <a:ea typeface="Segoe UI" pitchFamily="34" charset="-122"/>
                <a:cs typeface="Segoe UI" pitchFamily="34" charset="-120"/>
              </a:rPr>
              <a:t>Capability &amp; Code Quality</a:t>
            </a:r>
            <a:endParaRPr lang="en-US" sz="6300" dirty="0"/>
          </a:p>
        </p:txBody>
      </p:sp>
      <p:sp>
        <p:nvSpPr>
          <p:cNvPr id="5" name="Shape 3"/>
          <p:cNvSpPr/>
          <p:nvPr/>
        </p:nvSpPr>
        <p:spPr>
          <a:xfrm>
            <a:off x="914400" y="2942908"/>
            <a:ext cx="16459200" cy="6002814"/>
          </a:xfrm>
          <a:prstGeom prst="rect">
            <a:avLst/>
          </a:prstGeom>
          <a:solidFill>
            <a:srgbClr val="D6D4D3"/>
          </a:solidFill>
          <a:ln/>
        </p:spPr>
      </p:sp>
      <p:sp>
        <p:nvSpPr>
          <p:cNvPr id="6" name="Shape 4"/>
          <p:cNvSpPr/>
          <p:nvPr/>
        </p:nvSpPr>
        <p:spPr>
          <a:xfrm>
            <a:off x="914400" y="2942908"/>
            <a:ext cx="8220075" cy="3212941"/>
          </a:xfrm>
          <a:prstGeom prst="rect">
            <a:avLst/>
          </a:prstGeom>
          <a:solidFill>
            <a:srgbClr val="FFFFFF"/>
          </a:solidFill>
          <a:ln/>
        </p:spPr>
      </p:sp>
      <p:sp>
        <p:nvSpPr>
          <p:cNvPr id="7" name="Text 5"/>
          <p:cNvSpPr/>
          <p:nvPr/>
        </p:nvSpPr>
        <p:spPr>
          <a:xfrm>
            <a:off x="914400" y="3323908"/>
            <a:ext cx="8581073"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78B3"/>
                </a:solidFill>
                <a:latin typeface="Segoe UI" pitchFamily="34" charset="0"/>
                <a:ea typeface="Segoe UI" pitchFamily="34" charset="-122"/>
                <a:cs typeface="Segoe UI" pitchFamily="34" charset="-120"/>
              </a:rPr>
              <a:t>SKILLS</a:t>
            </a:r>
            <a:endParaRPr lang="en-US" sz="1800" dirty="0"/>
          </a:p>
        </p:txBody>
      </p:sp>
      <p:sp>
        <p:nvSpPr>
          <p:cNvPr id="8" name="Text 6"/>
          <p:cNvSpPr/>
          <p:nvPr/>
        </p:nvSpPr>
        <p:spPr>
          <a:xfrm>
            <a:off x="914400" y="3795713"/>
            <a:ext cx="8035004" cy="1363980"/>
          </a:xfrm>
          <a:prstGeom prst="rect">
            <a:avLst/>
          </a:prstGeom>
          <a:noFill/>
          <a:ln/>
        </p:spPr>
        <p:txBody>
          <a:bodyPr wrap="square" lIns="25400" tIns="25400" rIns="25400" bIns="25400" rtlCol="0" anchor="t">
            <a:normAutofit/>
          </a:bodyPr>
          <a:lstStyle/>
          <a:p>
            <a:pPr algn="l" indent="0" marL="0">
              <a:lnSpc>
                <a:spcPct val="109736"/>
              </a:lnSpc>
              <a:buNone/>
            </a:pPr>
            <a:r>
              <a:rPr lang="en-US" sz="2400" dirty="0">
                <a:solidFill>
                  <a:srgbClr val="201E1D"/>
                </a:solidFill>
                <a:latin typeface="Segoe UI" pitchFamily="34" charset="0"/>
                <a:ea typeface="Segoe UI" pitchFamily="34" charset="-122"/>
                <a:cs typeface="Segoe UI" pitchFamily="34" charset="-120"/>
              </a:rPr>
              <a:t>All team members are comfortable with Databricks, Python, Git and GitHub. Most of the team is comfortable with SQL.</a:t>
            </a:r>
            <a:endParaRPr lang="en-US" sz="2400" dirty="0"/>
          </a:p>
        </p:txBody>
      </p:sp>
      <p:sp>
        <p:nvSpPr>
          <p:cNvPr id="9" name="Shape 7"/>
          <p:cNvSpPr/>
          <p:nvPr/>
        </p:nvSpPr>
        <p:spPr>
          <a:xfrm>
            <a:off x="9153525" y="2942908"/>
            <a:ext cx="8220075" cy="3212941"/>
          </a:xfrm>
          <a:prstGeom prst="rect">
            <a:avLst/>
          </a:prstGeom>
          <a:solidFill>
            <a:srgbClr val="FFFFFF"/>
          </a:solidFill>
          <a:ln/>
        </p:spPr>
      </p:sp>
      <p:sp>
        <p:nvSpPr>
          <p:cNvPr id="10" name="Text 8"/>
          <p:cNvSpPr/>
          <p:nvPr/>
        </p:nvSpPr>
        <p:spPr>
          <a:xfrm>
            <a:off x="9572625" y="3323908"/>
            <a:ext cx="8581073"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78B3"/>
                </a:solidFill>
                <a:latin typeface="Segoe UI" pitchFamily="34" charset="0"/>
                <a:ea typeface="Segoe UI" pitchFamily="34" charset="-122"/>
                <a:cs typeface="Segoe UI" pitchFamily="34" charset="-120"/>
              </a:rPr>
              <a:t>CODE</a:t>
            </a:r>
            <a:endParaRPr lang="en-US" sz="1800" dirty="0"/>
          </a:p>
        </p:txBody>
      </p:sp>
      <p:sp>
        <p:nvSpPr>
          <p:cNvPr id="11" name="Text 9"/>
          <p:cNvSpPr/>
          <p:nvPr/>
        </p:nvSpPr>
        <p:spPr>
          <a:xfrm>
            <a:off x="9572625" y="3795713"/>
            <a:ext cx="8035004" cy="1363980"/>
          </a:xfrm>
          <a:prstGeom prst="rect">
            <a:avLst/>
          </a:prstGeom>
          <a:noFill/>
          <a:ln/>
        </p:spPr>
        <p:txBody>
          <a:bodyPr wrap="square" lIns="25400" tIns="25400" rIns="25400" bIns="25400" rtlCol="0" anchor="t">
            <a:normAutofit/>
          </a:bodyPr>
          <a:lstStyle/>
          <a:p>
            <a:pPr algn="l" indent="0" marL="0">
              <a:lnSpc>
                <a:spcPct val="109736"/>
              </a:lnSpc>
              <a:buNone/>
            </a:pPr>
            <a:r>
              <a:rPr lang="en-US" sz="2400" dirty="0">
                <a:solidFill>
                  <a:srgbClr val="201E1D"/>
                </a:solidFill>
                <a:latin typeface="Segoe UI" pitchFamily="34" charset="0"/>
                <a:ea typeface="Segoe UI" pitchFamily="34" charset="-122"/>
                <a:cs typeface="Segoe UI" pitchFamily="34" charset="-120"/>
              </a:rPr>
              <a:t>Scripts are simplified. Repetitive code is extracted into maintainable repositories that any team member can leverage easily.</a:t>
            </a:r>
            <a:endParaRPr lang="en-US" sz="2400" dirty="0"/>
          </a:p>
        </p:txBody>
      </p:sp>
      <p:sp>
        <p:nvSpPr>
          <p:cNvPr id="12" name="Shape 10"/>
          <p:cNvSpPr/>
          <p:nvPr/>
        </p:nvSpPr>
        <p:spPr>
          <a:xfrm>
            <a:off x="914400" y="6174899"/>
            <a:ext cx="8220075" cy="2770822"/>
          </a:xfrm>
          <a:prstGeom prst="rect">
            <a:avLst/>
          </a:prstGeom>
          <a:solidFill>
            <a:srgbClr val="FFFFFF"/>
          </a:solidFill>
          <a:ln/>
        </p:spPr>
      </p:sp>
      <p:sp>
        <p:nvSpPr>
          <p:cNvPr id="13" name="Text 11"/>
          <p:cNvSpPr/>
          <p:nvPr/>
        </p:nvSpPr>
        <p:spPr>
          <a:xfrm>
            <a:off x="914400" y="6555899"/>
            <a:ext cx="8581073"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78B3"/>
                </a:solidFill>
                <a:latin typeface="Segoe UI" pitchFamily="34" charset="0"/>
                <a:ea typeface="Segoe UI" pitchFamily="34" charset="-122"/>
                <a:cs typeface="Segoe UI" pitchFamily="34" charset="-120"/>
              </a:rPr>
              <a:t>QUALITY</a:t>
            </a:r>
            <a:endParaRPr lang="en-US" sz="1800" dirty="0"/>
          </a:p>
        </p:txBody>
      </p:sp>
      <p:sp>
        <p:nvSpPr>
          <p:cNvPr id="14" name="Text 12"/>
          <p:cNvSpPr/>
          <p:nvPr/>
        </p:nvSpPr>
        <p:spPr>
          <a:xfrm>
            <a:off x="914400" y="7027704"/>
            <a:ext cx="8035004" cy="922020"/>
          </a:xfrm>
          <a:prstGeom prst="rect">
            <a:avLst/>
          </a:prstGeom>
          <a:noFill/>
          <a:ln/>
        </p:spPr>
        <p:txBody>
          <a:bodyPr wrap="square" lIns="25400" tIns="25400" rIns="25400" bIns="25400" rtlCol="0" anchor="t">
            <a:normAutofit/>
          </a:bodyPr>
          <a:lstStyle/>
          <a:p>
            <a:pPr algn="l" indent="0" marL="0">
              <a:lnSpc>
                <a:spcPct val="109736"/>
              </a:lnSpc>
              <a:buNone/>
            </a:pPr>
            <a:r>
              <a:rPr lang="en-US" sz="2400" dirty="0">
                <a:solidFill>
                  <a:srgbClr val="201E1D"/>
                </a:solidFill>
                <a:latin typeface="Segoe UI" pitchFamily="34" charset="0"/>
                <a:ea typeface="Segoe UI" pitchFamily="34" charset="-122"/>
                <a:cs typeface="Segoe UI" pitchFamily="34" charset="-120"/>
              </a:rPr>
              <a:t>Data quality checks and standards are built into the process rather than bolted on afterwards.</a:t>
            </a:r>
            <a:endParaRPr lang="en-US" sz="2400" dirty="0"/>
          </a:p>
        </p:txBody>
      </p:sp>
      <p:sp>
        <p:nvSpPr>
          <p:cNvPr id="15" name="Shape 13"/>
          <p:cNvSpPr/>
          <p:nvPr/>
        </p:nvSpPr>
        <p:spPr>
          <a:xfrm>
            <a:off x="9153525" y="6174899"/>
            <a:ext cx="8220075" cy="2770822"/>
          </a:xfrm>
          <a:prstGeom prst="rect">
            <a:avLst/>
          </a:prstGeom>
          <a:solidFill>
            <a:srgbClr val="FFFFFF"/>
          </a:solidFill>
          <a:ln/>
        </p:spPr>
      </p:sp>
      <p:sp>
        <p:nvSpPr>
          <p:cNvPr id="16" name="Text 14"/>
          <p:cNvSpPr/>
          <p:nvPr/>
        </p:nvSpPr>
        <p:spPr>
          <a:xfrm>
            <a:off x="9572625" y="6555899"/>
            <a:ext cx="8581073"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78B3"/>
                </a:solidFill>
                <a:latin typeface="Segoe UI" pitchFamily="34" charset="0"/>
                <a:ea typeface="Segoe UI" pitchFamily="34" charset="-122"/>
                <a:cs typeface="Segoe UI" pitchFamily="34" charset="-120"/>
              </a:rPr>
              <a:t>DOCUMENTATION</a:t>
            </a:r>
            <a:endParaRPr lang="en-US" sz="1800" dirty="0"/>
          </a:p>
        </p:txBody>
      </p:sp>
      <p:sp>
        <p:nvSpPr>
          <p:cNvPr id="17" name="Text 15"/>
          <p:cNvSpPr/>
          <p:nvPr/>
        </p:nvSpPr>
        <p:spPr>
          <a:xfrm>
            <a:off x="9572625" y="7027704"/>
            <a:ext cx="8035004" cy="922020"/>
          </a:xfrm>
          <a:prstGeom prst="rect">
            <a:avLst/>
          </a:prstGeom>
          <a:noFill/>
          <a:ln/>
        </p:spPr>
        <p:txBody>
          <a:bodyPr wrap="square" lIns="25400" tIns="25400" rIns="25400" bIns="25400" rtlCol="0" anchor="t">
            <a:normAutofit/>
          </a:bodyPr>
          <a:lstStyle/>
          <a:p>
            <a:pPr algn="l" indent="0" marL="0">
              <a:lnSpc>
                <a:spcPct val="109736"/>
              </a:lnSpc>
              <a:buNone/>
            </a:pPr>
            <a:r>
              <a:rPr lang="en-US" sz="2400" dirty="0">
                <a:solidFill>
                  <a:srgbClr val="201E1D"/>
                </a:solidFill>
                <a:latin typeface="Segoe UI" pitchFamily="34" charset="0"/>
                <a:ea typeface="Segoe UI" pitchFamily="34" charset="-122"/>
                <a:cs typeface="Segoe UI" pitchFamily="34" charset="-120"/>
              </a:rPr>
              <a:t>Reports are catalogued and documented via a well defined (and largely automated) process.</a:t>
            </a:r>
            <a:endParaRPr lang="en-US" sz="2400" dirty="0"/>
          </a:p>
        </p:txBody>
      </p:sp>
      <p:sp>
        <p:nvSpPr>
          <p:cNvPr id="18" name="Shape 16"/>
          <p:cNvSpPr/>
          <p:nvPr/>
        </p:nvSpPr>
        <p:spPr>
          <a:xfrm>
            <a:off x="914400" y="8964771"/>
            <a:ext cx="16459200" cy="13652"/>
          </a:xfrm>
          <a:prstGeom prst="rect">
            <a:avLst/>
          </a:prstGeom>
          <a:solidFill>
            <a:srgbClr val="003B71"/>
          </a:solidFill>
          <a:ln/>
        </p:spPr>
      </p:sp>
      <p:sp>
        <p:nvSpPr>
          <p:cNvPr id="19" name="Text 17"/>
          <p:cNvSpPr/>
          <p:nvPr/>
        </p:nvSpPr>
        <p:spPr>
          <a:xfrm>
            <a:off x="914400" y="9168924"/>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20" name="Text 18"/>
          <p:cNvSpPr/>
          <p:nvPr/>
        </p:nvSpPr>
        <p:spPr>
          <a:xfrm>
            <a:off x="17122457" y="9168924"/>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05</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2472055"/>
            <a:ext cx="16459200" cy="13652"/>
          </a:xfrm>
          <a:prstGeom prst="rect">
            <a:avLst/>
          </a:prstGeom>
          <a:solidFill>
            <a:srgbClr val="003B71"/>
          </a:solidFill>
          <a:ln/>
        </p:spPr>
      </p:sp>
      <p:sp>
        <p:nvSpPr>
          <p:cNvPr id="3" name="Text 1"/>
          <p:cNvSpPr/>
          <p:nvPr/>
        </p:nvSpPr>
        <p:spPr>
          <a:xfrm>
            <a:off x="914400" y="838200"/>
            <a:ext cx="9872774"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0078B3"/>
                </a:solidFill>
                <a:latin typeface="Segoe UI" pitchFamily="34" charset="0"/>
                <a:ea typeface="Segoe UI" pitchFamily="34" charset="-122"/>
                <a:cs typeface="Segoe UI" pitchFamily="34" charset="-120"/>
              </a:rPr>
              <a:t>IDEAL FUTURE STATE</a:t>
            </a:r>
            <a:endParaRPr lang="en-US" sz="1800" dirty="0"/>
          </a:p>
        </p:txBody>
      </p:sp>
      <p:sp>
        <p:nvSpPr>
          <p:cNvPr id="4" name="Text 2"/>
          <p:cNvSpPr/>
          <p:nvPr/>
        </p:nvSpPr>
        <p:spPr>
          <a:xfrm>
            <a:off x="914400" y="1329055"/>
            <a:ext cx="9872774"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003B71"/>
                </a:solidFill>
                <a:latin typeface="Segoe UI" pitchFamily="34" charset="0"/>
                <a:ea typeface="Segoe UI" pitchFamily="34" charset="-122"/>
                <a:cs typeface="Segoe UI" pitchFamily="34" charset="-120"/>
              </a:rPr>
              <a:t>Fidelity, AI &amp; Self-Service</a:t>
            </a:r>
            <a:endParaRPr lang="en-US" sz="6300" dirty="0"/>
          </a:p>
        </p:txBody>
      </p:sp>
      <p:sp>
        <p:nvSpPr>
          <p:cNvPr id="5" name="Shape 3"/>
          <p:cNvSpPr/>
          <p:nvPr/>
        </p:nvSpPr>
        <p:spPr>
          <a:xfrm>
            <a:off x="914400" y="2942908"/>
            <a:ext cx="16459200" cy="4705350"/>
          </a:xfrm>
          <a:prstGeom prst="rect">
            <a:avLst/>
          </a:prstGeom>
          <a:solidFill>
            <a:srgbClr val="D6D4D3"/>
          </a:solidFill>
          <a:ln/>
        </p:spPr>
      </p:sp>
      <p:sp>
        <p:nvSpPr>
          <p:cNvPr id="6" name="Shape 4"/>
          <p:cNvSpPr/>
          <p:nvPr/>
        </p:nvSpPr>
        <p:spPr>
          <a:xfrm>
            <a:off x="914400" y="2942908"/>
            <a:ext cx="16459200" cy="1051560"/>
          </a:xfrm>
          <a:prstGeom prst="rect">
            <a:avLst/>
          </a:prstGeom>
          <a:solidFill>
            <a:srgbClr val="FFFFFF"/>
          </a:solidFill>
          <a:ln/>
        </p:spPr>
      </p:sp>
      <p:sp>
        <p:nvSpPr>
          <p:cNvPr id="7" name="Text 5"/>
          <p:cNvSpPr/>
          <p:nvPr/>
        </p:nvSpPr>
        <p:spPr>
          <a:xfrm>
            <a:off x="914400" y="3247708"/>
            <a:ext cx="3335655" cy="48006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078B3"/>
                </a:solidFill>
                <a:latin typeface="Segoe UI" pitchFamily="34" charset="0"/>
                <a:ea typeface="Segoe UI" pitchFamily="34" charset="-122"/>
                <a:cs typeface="Segoe UI" pitchFamily="34" charset="-120"/>
              </a:rPr>
              <a:t>FIDELITY</a:t>
            </a:r>
            <a:endParaRPr lang="en-US" sz="1950" dirty="0"/>
          </a:p>
        </p:txBody>
      </p:sp>
      <p:sp>
        <p:nvSpPr>
          <p:cNvPr id="8" name="Text 6"/>
          <p:cNvSpPr/>
          <p:nvPr/>
        </p:nvSpPr>
        <p:spPr>
          <a:xfrm>
            <a:off x="4533900" y="3247708"/>
            <a:ext cx="14123670" cy="480060"/>
          </a:xfrm>
          <a:prstGeom prst="rect">
            <a:avLst/>
          </a:prstGeom>
          <a:noFill/>
          <a:ln/>
        </p:spPr>
        <p:txBody>
          <a:bodyPr wrap="square" lIns="25400" tIns="25400" rIns="25400" bIns="25400" rtlCol="0" anchor="t">
            <a:normAutofit/>
          </a:bodyPr>
          <a:lstStyle/>
          <a:p>
            <a:pPr algn="l" indent="0" marL="0">
              <a:lnSpc>
                <a:spcPct val="109736"/>
              </a:lnSpc>
              <a:buNone/>
            </a:pPr>
            <a:r>
              <a:rPr lang="en-US" sz="2400" dirty="0">
                <a:solidFill>
                  <a:srgbClr val="201E1D"/>
                </a:solidFill>
                <a:latin typeface="Segoe UI" pitchFamily="34" charset="0"/>
                <a:ea typeface="Segoe UI" pitchFamily="34" charset="-122"/>
                <a:cs typeface="Segoe UI" pitchFamily="34" charset="-120"/>
              </a:rPr>
              <a:t>Reports generated via SAS scripts are replicated exactly.</a:t>
            </a:r>
            <a:endParaRPr lang="en-US" sz="2400" dirty="0"/>
          </a:p>
        </p:txBody>
      </p:sp>
      <p:sp>
        <p:nvSpPr>
          <p:cNvPr id="9" name="Shape 7"/>
          <p:cNvSpPr/>
          <p:nvPr/>
        </p:nvSpPr>
        <p:spPr>
          <a:xfrm>
            <a:off x="914400" y="4013518"/>
            <a:ext cx="16459200" cy="1493520"/>
          </a:xfrm>
          <a:prstGeom prst="rect">
            <a:avLst/>
          </a:prstGeom>
          <a:solidFill>
            <a:srgbClr val="FFFFFF"/>
          </a:solidFill>
          <a:ln/>
        </p:spPr>
      </p:sp>
      <p:sp>
        <p:nvSpPr>
          <p:cNvPr id="10" name="Text 8"/>
          <p:cNvSpPr/>
          <p:nvPr/>
        </p:nvSpPr>
        <p:spPr>
          <a:xfrm>
            <a:off x="914400" y="4318318"/>
            <a:ext cx="3335655" cy="92202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078B3"/>
                </a:solidFill>
                <a:latin typeface="Segoe UI" pitchFamily="34" charset="0"/>
                <a:ea typeface="Segoe UI" pitchFamily="34" charset="-122"/>
                <a:cs typeface="Segoe UI" pitchFamily="34" charset="-120"/>
              </a:rPr>
              <a:t>AI READY</a:t>
            </a:r>
            <a:endParaRPr lang="en-US" sz="1950" dirty="0"/>
          </a:p>
        </p:txBody>
      </p:sp>
      <p:sp>
        <p:nvSpPr>
          <p:cNvPr id="11" name="Text 9"/>
          <p:cNvSpPr/>
          <p:nvPr/>
        </p:nvSpPr>
        <p:spPr>
          <a:xfrm>
            <a:off x="4533900" y="4318318"/>
            <a:ext cx="13224891" cy="922020"/>
          </a:xfrm>
          <a:prstGeom prst="rect">
            <a:avLst/>
          </a:prstGeom>
          <a:noFill/>
          <a:ln/>
        </p:spPr>
        <p:txBody>
          <a:bodyPr wrap="square" lIns="25400" tIns="25400" rIns="25400" bIns="25400" rtlCol="0" anchor="t">
            <a:normAutofit/>
          </a:bodyPr>
          <a:lstStyle/>
          <a:p>
            <a:pPr algn="l" indent="0" marL="0">
              <a:lnSpc>
                <a:spcPct val="109736"/>
              </a:lnSpc>
              <a:buNone/>
            </a:pPr>
            <a:r>
              <a:rPr lang="en-US" sz="2400" dirty="0">
                <a:solidFill>
                  <a:srgbClr val="201E1D"/>
                </a:solidFill>
                <a:latin typeface="Segoe UI" pitchFamily="34" charset="0"/>
                <a:ea typeface="Segoe UI" pitchFamily="34" charset="-122"/>
                <a:cs typeface="Segoe UI" pitchFamily="34" charset="-120"/>
              </a:rPr>
              <a:t>Workflows are adjusted so developers use AI tools to manage the tedium of code writing — the developer </a:t>
            </a:r>
            <a:pPr algn="l" indent="0" marL="0">
              <a:lnSpc>
                <a:spcPct val="109736"/>
              </a:lnSpc>
              <a:buNone/>
            </a:pPr>
            <a:r>
              <a:rPr lang="en-US" sz="2400" b="1" dirty="0">
                <a:solidFill>
                  <a:srgbClr val="003B71"/>
                </a:solidFill>
                <a:latin typeface="Segoe UI" pitchFamily="34" charset="0"/>
                <a:ea typeface="Segoe UI" pitchFamily="34" charset="-122"/>
                <a:cs typeface="Segoe UI" pitchFamily="34" charset="-120"/>
              </a:rPr>
              <a:t>checks </a:t>
            </a:r>
            <a:pPr algn="l" indent="0" marL="0">
              <a:lnSpc>
                <a:spcPct val="109736"/>
              </a:lnSpc>
              <a:buNone/>
            </a:pPr>
            <a:r>
              <a:rPr lang="en-US" sz="2400" dirty="0">
                <a:solidFill>
                  <a:srgbClr val="201E1D"/>
                </a:solidFill>
                <a:latin typeface="Segoe UI" pitchFamily="34" charset="0"/>
                <a:ea typeface="Segoe UI" pitchFamily="34" charset="-122"/>
                <a:cs typeface="Segoe UI" pitchFamily="34" charset="-120"/>
              </a:rPr>
              <a:t>code and focuses on </a:t>
            </a:r>
            <a:pPr algn="l" indent="0" marL="0">
              <a:lnSpc>
                <a:spcPct val="109736"/>
              </a:lnSpc>
              <a:buNone/>
            </a:pPr>
            <a:r>
              <a:rPr lang="en-US" sz="2400" b="1" dirty="0">
                <a:solidFill>
                  <a:srgbClr val="003B71"/>
                </a:solidFill>
                <a:latin typeface="Segoe UI" pitchFamily="34" charset="0"/>
                <a:ea typeface="Segoe UI" pitchFamily="34" charset="-122"/>
                <a:cs typeface="Segoe UI" pitchFamily="34" charset="-120"/>
              </a:rPr>
              <a:t>testing.</a:t>
            </a:r>
            <a:endParaRPr lang="en-US" sz="2400" dirty="0"/>
          </a:p>
        </p:txBody>
      </p:sp>
      <p:sp>
        <p:nvSpPr>
          <p:cNvPr id="12" name="Shape 10"/>
          <p:cNvSpPr/>
          <p:nvPr/>
        </p:nvSpPr>
        <p:spPr>
          <a:xfrm>
            <a:off x="914400" y="5526088"/>
            <a:ext cx="16459200" cy="1051560"/>
          </a:xfrm>
          <a:prstGeom prst="rect">
            <a:avLst/>
          </a:prstGeom>
          <a:solidFill>
            <a:srgbClr val="FFFFFF"/>
          </a:solidFill>
          <a:ln/>
        </p:spPr>
      </p:sp>
      <p:sp>
        <p:nvSpPr>
          <p:cNvPr id="13" name="Text 11"/>
          <p:cNvSpPr/>
          <p:nvPr/>
        </p:nvSpPr>
        <p:spPr>
          <a:xfrm>
            <a:off x="914400" y="5830888"/>
            <a:ext cx="3335655" cy="48006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078B3"/>
                </a:solidFill>
                <a:latin typeface="Segoe UI" pitchFamily="34" charset="0"/>
                <a:ea typeface="Segoe UI" pitchFamily="34" charset="-122"/>
                <a:cs typeface="Segoe UI" pitchFamily="34" charset="-120"/>
              </a:rPr>
              <a:t>ACCESS</a:t>
            </a:r>
            <a:endParaRPr lang="en-US" sz="1950" dirty="0"/>
          </a:p>
        </p:txBody>
      </p:sp>
      <p:sp>
        <p:nvSpPr>
          <p:cNvPr id="14" name="Text 12"/>
          <p:cNvSpPr/>
          <p:nvPr/>
        </p:nvSpPr>
        <p:spPr>
          <a:xfrm>
            <a:off x="4533900" y="5830888"/>
            <a:ext cx="14123670" cy="480060"/>
          </a:xfrm>
          <a:prstGeom prst="rect">
            <a:avLst/>
          </a:prstGeom>
          <a:noFill/>
          <a:ln/>
        </p:spPr>
        <p:txBody>
          <a:bodyPr wrap="square" lIns="25400" tIns="25400" rIns="25400" bIns="25400" rtlCol="0" anchor="t">
            <a:normAutofit/>
          </a:bodyPr>
          <a:lstStyle/>
          <a:p>
            <a:pPr algn="l" indent="0" marL="0">
              <a:lnSpc>
                <a:spcPct val="109736"/>
              </a:lnSpc>
              <a:buNone/>
            </a:pPr>
            <a:r>
              <a:rPr lang="en-US" sz="2400" dirty="0">
                <a:solidFill>
                  <a:srgbClr val="201E1D"/>
                </a:solidFill>
                <a:latin typeface="Segoe UI" pitchFamily="34" charset="0"/>
                <a:ea typeface="Segoe UI" pitchFamily="34" charset="-122"/>
                <a:cs typeface="Segoe UI" pitchFamily="34" charset="-120"/>
              </a:rPr>
              <a:t>Team members have access to powerful and modern AI tools.</a:t>
            </a:r>
            <a:endParaRPr lang="en-US" sz="2400" dirty="0"/>
          </a:p>
        </p:txBody>
      </p:sp>
      <p:sp>
        <p:nvSpPr>
          <p:cNvPr id="15" name="Shape 13"/>
          <p:cNvSpPr/>
          <p:nvPr/>
        </p:nvSpPr>
        <p:spPr>
          <a:xfrm>
            <a:off x="914400" y="6596697"/>
            <a:ext cx="16459200" cy="1051560"/>
          </a:xfrm>
          <a:prstGeom prst="rect">
            <a:avLst/>
          </a:prstGeom>
          <a:solidFill>
            <a:srgbClr val="FFFFFF"/>
          </a:solidFill>
          <a:ln/>
        </p:spPr>
      </p:sp>
      <p:sp>
        <p:nvSpPr>
          <p:cNvPr id="16" name="Text 14"/>
          <p:cNvSpPr/>
          <p:nvPr/>
        </p:nvSpPr>
        <p:spPr>
          <a:xfrm>
            <a:off x="914400" y="6901497"/>
            <a:ext cx="3335655" cy="48006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078B3"/>
                </a:solidFill>
                <a:latin typeface="Segoe UI" pitchFamily="34" charset="0"/>
                <a:ea typeface="Segoe UI" pitchFamily="34" charset="-122"/>
                <a:cs typeface="Segoe UI" pitchFamily="34" charset="-120"/>
              </a:rPr>
              <a:t>SELF-SERVICE</a:t>
            </a:r>
            <a:endParaRPr lang="en-US" sz="1950" dirty="0"/>
          </a:p>
        </p:txBody>
      </p:sp>
      <p:sp>
        <p:nvSpPr>
          <p:cNvPr id="17" name="Text 15"/>
          <p:cNvSpPr/>
          <p:nvPr/>
        </p:nvSpPr>
        <p:spPr>
          <a:xfrm>
            <a:off x="4533900" y="6901497"/>
            <a:ext cx="14123670" cy="480060"/>
          </a:xfrm>
          <a:prstGeom prst="rect">
            <a:avLst/>
          </a:prstGeom>
          <a:noFill/>
          <a:ln/>
        </p:spPr>
        <p:txBody>
          <a:bodyPr wrap="square" lIns="25400" tIns="25400" rIns="25400" bIns="25400" rtlCol="0" anchor="t">
            <a:normAutofit/>
          </a:bodyPr>
          <a:lstStyle/>
          <a:p>
            <a:pPr algn="l" indent="0" marL="0">
              <a:lnSpc>
                <a:spcPct val="109736"/>
              </a:lnSpc>
              <a:buNone/>
            </a:pPr>
            <a:r>
              <a:rPr lang="en-US" sz="2400" dirty="0">
                <a:solidFill>
                  <a:srgbClr val="201E1D"/>
                </a:solidFill>
                <a:latin typeface="Segoe UI" pitchFamily="34" charset="0"/>
                <a:ea typeface="Segoe UI" pitchFamily="34" charset="-122"/>
                <a:cs typeface="Segoe UI" pitchFamily="34" charset="-120"/>
              </a:rPr>
              <a:t>A self-service tool allows business users to explore datasets on their own.</a:t>
            </a:r>
            <a:endParaRPr lang="en-US" sz="2400" dirty="0"/>
          </a:p>
        </p:txBody>
      </p:sp>
      <p:sp>
        <p:nvSpPr>
          <p:cNvPr id="18" name="Shape 16"/>
          <p:cNvSpPr/>
          <p:nvPr/>
        </p:nvSpPr>
        <p:spPr>
          <a:xfrm>
            <a:off x="914400" y="8964771"/>
            <a:ext cx="16459200" cy="13652"/>
          </a:xfrm>
          <a:prstGeom prst="rect">
            <a:avLst/>
          </a:prstGeom>
          <a:solidFill>
            <a:srgbClr val="003B71"/>
          </a:solidFill>
          <a:ln/>
        </p:spPr>
      </p:sp>
      <p:sp>
        <p:nvSpPr>
          <p:cNvPr id="19" name="Text 17"/>
          <p:cNvSpPr/>
          <p:nvPr/>
        </p:nvSpPr>
        <p:spPr>
          <a:xfrm>
            <a:off x="914400" y="9168924"/>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20" name="Text 18"/>
          <p:cNvSpPr/>
          <p:nvPr/>
        </p:nvSpPr>
        <p:spPr>
          <a:xfrm>
            <a:off x="17122457" y="9168924"/>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06</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2472055"/>
            <a:ext cx="16459200" cy="13652"/>
          </a:xfrm>
          <a:prstGeom prst="rect">
            <a:avLst/>
          </a:prstGeom>
          <a:solidFill>
            <a:srgbClr val="003B71"/>
          </a:solidFill>
          <a:ln/>
        </p:spPr>
      </p:sp>
      <p:sp>
        <p:nvSpPr>
          <p:cNvPr id="3" name="Text 1"/>
          <p:cNvSpPr/>
          <p:nvPr/>
        </p:nvSpPr>
        <p:spPr>
          <a:xfrm>
            <a:off x="914400" y="838200"/>
            <a:ext cx="18105120"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0078B3"/>
                </a:solidFill>
                <a:latin typeface="Segoe UI" pitchFamily="34" charset="0"/>
                <a:ea typeface="Segoe UI" pitchFamily="34" charset="-122"/>
                <a:cs typeface="Segoe UI" pitchFamily="34" charset="-120"/>
              </a:rPr>
              <a:t>GAP TO TARGET STATE</a:t>
            </a:r>
            <a:endParaRPr lang="en-US" sz="1800" dirty="0"/>
          </a:p>
        </p:txBody>
      </p:sp>
      <p:sp>
        <p:nvSpPr>
          <p:cNvPr id="4" name="Text 2"/>
          <p:cNvSpPr/>
          <p:nvPr/>
        </p:nvSpPr>
        <p:spPr>
          <a:xfrm>
            <a:off x="914400" y="1329055"/>
            <a:ext cx="18105120"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003B71"/>
                </a:solidFill>
                <a:latin typeface="Segoe UI" pitchFamily="34" charset="0"/>
                <a:ea typeface="Segoe UI" pitchFamily="34" charset="-122"/>
                <a:cs typeface="Segoe UI" pitchFamily="34" charset="-120"/>
              </a:rPr>
              <a:t>Challenges</a:t>
            </a:r>
            <a:endParaRPr lang="en-US" sz="6300" dirty="0"/>
          </a:p>
        </p:txBody>
      </p:sp>
      <p:sp>
        <p:nvSpPr>
          <p:cNvPr id="5" name="Shape 3"/>
          <p:cNvSpPr/>
          <p:nvPr/>
        </p:nvSpPr>
        <p:spPr>
          <a:xfrm>
            <a:off x="914400" y="2942908"/>
            <a:ext cx="16459200" cy="6002814"/>
          </a:xfrm>
          <a:prstGeom prst="rect">
            <a:avLst/>
          </a:prstGeom>
          <a:solidFill>
            <a:srgbClr val="D6D4D3"/>
          </a:solidFill>
          <a:ln/>
        </p:spPr>
      </p:sp>
      <p:sp>
        <p:nvSpPr>
          <p:cNvPr id="6" name="Shape 4"/>
          <p:cNvSpPr/>
          <p:nvPr/>
        </p:nvSpPr>
        <p:spPr>
          <a:xfrm>
            <a:off x="914400" y="2942908"/>
            <a:ext cx="8220075" cy="2563813"/>
          </a:xfrm>
          <a:prstGeom prst="rect">
            <a:avLst/>
          </a:prstGeom>
          <a:solidFill>
            <a:srgbClr val="FFFFFF"/>
          </a:solidFill>
          <a:ln/>
        </p:spPr>
      </p:sp>
      <p:sp>
        <p:nvSpPr>
          <p:cNvPr id="7" name="Text 5"/>
          <p:cNvSpPr/>
          <p:nvPr/>
        </p:nvSpPr>
        <p:spPr>
          <a:xfrm>
            <a:off x="914400" y="3285808"/>
            <a:ext cx="8581073"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40C1AC"/>
                </a:solidFill>
                <a:latin typeface="Segoe UI" pitchFamily="34" charset="0"/>
                <a:ea typeface="Segoe UI" pitchFamily="34" charset="-122"/>
                <a:cs typeface="Segoe UI" pitchFamily="34" charset="-120"/>
              </a:rPr>
              <a:t>DEVELOPER WORKFLOW</a:t>
            </a:r>
            <a:endParaRPr lang="en-US" sz="1800" dirty="0"/>
          </a:p>
        </p:txBody>
      </p:sp>
      <p:sp>
        <p:nvSpPr>
          <p:cNvPr id="8" name="Text 6"/>
          <p:cNvSpPr/>
          <p:nvPr/>
        </p:nvSpPr>
        <p:spPr>
          <a:xfrm>
            <a:off x="914400" y="3738563"/>
            <a:ext cx="8035004" cy="894397"/>
          </a:xfrm>
          <a:prstGeom prst="rect">
            <a:avLst/>
          </a:prstGeom>
          <a:noFill/>
          <a:ln/>
        </p:spPr>
        <p:txBody>
          <a:bodyPr wrap="square" lIns="25400" tIns="25400" rIns="25400" bIns="25400" rtlCol="0" anchor="t">
            <a:normAutofit/>
          </a:bodyPr>
          <a:lstStyle/>
          <a:p>
            <a:pPr algn="l" indent="0" marL="0">
              <a:lnSpc>
                <a:spcPct val="108140"/>
              </a:lnSpc>
              <a:buNone/>
            </a:pPr>
            <a:r>
              <a:rPr lang="en-US" sz="2325" dirty="0">
                <a:solidFill>
                  <a:srgbClr val="201E1D"/>
                </a:solidFill>
                <a:latin typeface="Segoe UI" pitchFamily="34" charset="0"/>
                <a:ea typeface="Segoe UI" pitchFamily="34" charset="-122"/>
                <a:cs typeface="Segoe UI" pitchFamily="34" charset="-120"/>
              </a:rPr>
              <a:t>Copy and paste from CoPilot is tedious and overly laborious. AI workflows are the new normal.</a:t>
            </a:r>
            <a:endParaRPr lang="en-US" sz="2325" dirty="0"/>
          </a:p>
        </p:txBody>
      </p:sp>
      <p:sp>
        <p:nvSpPr>
          <p:cNvPr id="9" name="Shape 7"/>
          <p:cNvSpPr/>
          <p:nvPr/>
        </p:nvSpPr>
        <p:spPr>
          <a:xfrm>
            <a:off x="9153525" y="2942908"/>
            <a:ext cx="8220075" cy="2563813"/>
          </a:xfrm>
          <a:prstGeom prst="rect">
            <a:avLst/>
          </a:prstGeom>
          <a:solidFill>
            <a:srgbClr val="FFFFFF"/>
          </a:solidFill>
          <a:ln/>
        </p:spPr>
      </p:sp>
      <p:sp>
        <p:nvSpPr>
          <p:cNvPr id="10" name="Text 8"/>
          <p:cNvSpPr/>
          <p:nvPr/>
        </p:nvSpPr>
        <p:spPr>
          <a:xfrm>
            <a:off x="9572625" y="3285808"/>
            <a:ext cx="8581073"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40C1AC"/>
                </a:solidFill>
                <a:latin typeface="Segoe UI" pitchFamily="34" charset="0"/>
                <a:ea typeface="Segoe UI" pitchFamily="34" charset="-122"/>
                <a:cs typeface="Segoe UI" pitchFamily="34" charset="-120"/>
              </a:rPr>
              <a:t>CONNECTIVITY</a:t>
            </a:r>
            <a:endParaRPr lang="en-US" sz="1800" dirty="0"/>
          </a:p>
        </p:txBody>
      </p:sp>
      <p:sp>
        <p:nvSpPr>
          <p:cNvPr id="11" name="Text 9"/>
          <p:cNvSpPr/>
          <p:nvPr/>
        </p:nvSpPr>
        <p:spPr>
          <a:xfrm>
            <a:off x="9572625" y="3738563"/>
            <a:ext cx="8035004" cy="1322546"/>
          </a:xfrm>
          <a:prstGeom prst="rect">
            <a:avLst/>
          </a:prstGeom>
          <a:noFill/>
          <a:ln/>
        </p:spPr>
        <p:txBody>
          <a:bodyPr wrap="square" lIns="25400" tIns="25400" rIns="25400" bIns="25400" rtlCol="0" anchor="t">
            <a:normAutofit/>
          </a:bodyPr>
          <a:lstStyle/>
          <a:p>
            <a:pPr algn="l" indent="0" marL="0">
              <a:lnSpc>
                <a:spcPct val="108140"/>
              </a:lnSpc>
              <a:buNone/>
            </a:pPr>
            <a:r>
              <a:rPr lang="en-US" sz="2325" dirty="0">
                <a:solidFill>
                  <a:srgbClr val="201E1D"/>
                </a:solidFill>
                <a:latin typeface="Segoe UI" pitchFamily="34" charset="0"/>
                <a:ea typeface="Segoe UI" pitchFamily="34" charset="-122"/>
                <a:cs typeface="Segoe UI" pitchFamily="34" charset="-120"/>
              </a:rPr>
              <a:t>Credentialing touches many different information systems, each with its own nuances. Databricks connections to legacy systems are still being developed — slowly.</a:t>
            </a:r>
            <a:endParaRPr lang="en-US" sz="2325" dirty="0"/>
          </a:p>
        </p:txBody>
      </p:sp>
      <p:sp>
        <p:nvSpPr>
          <p:cNvPr id="12" name="Shape 10"/>
          <p:cNvSpPr/>
          <p:nvPr/>
        </p:nvSpPr>
        <p:spPr>
          <a:xfrm>
            <a:off x="914400" y="5525770"/>
            <a:ext cx="8220075" cy="3419951"/>
          </a:xfrm>
          <a:prstGeom prst="rect">
            <a:avLst/>
          </a:prstGeom>
          <a:solidFill>
            <a:srgbClr val="FFFFFF"/>
          </a:solidFill>
          <a:ln/>
        </p:spPr>
      </p:sp>
      <p:sp>
        <p:nvSpPr>
          <p:cNvPr id="13" name="Text 11"/>
          <p:cNvSpPr/>
          <p:nvPr/>
        </p:nvSpPr>
        <p:spPr>
          <a:xfrm>
            <a:off x="914400" y="5868670"/>
            <a:ext cx="8581073"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40C1AC"/>
                </a:solidFill>
                <a:latin typeface="Segoe UI" pitchFamily="34" charset="0"/>
                <a:ea typeface="Segoe UI" pitchFamily="34" charset="-122"/>
                <a:cs typeface="Segoe UI" pitchFamily="34" charset="-120"/>
              </a:rPr>
              <a:t>LEARNING PYTHON</a:t>
            </a:r>
            <a:endParaRPr lang="en-US" sz="1800" dirty="0"/>
          </a:p>
        </p:txBody>
      </p:sp>
      <p:sp>
        <p:nvSpPr>
          <p:cNvPr id="14" name="Text 12"/>
          <p:cNvSpPr/>
          <p:nvPr/>
        </p:nvSpPr>
        <p:spPr>
          <a:xfrm>
            <a:off x="914400" y="6321425"/>
            <a:ext cx="8035004" cy="1322546"/>
          </a:xfrm>
          <a:prstGeom prst="rect">
            <a:avLst/>
          </a:prstGeom>
          <a:noFill/>
          <a:ln/>
        </p:spPr>
        <p:txBody>
          <a:bodyPr wrap="square" lIns="25400" tIns="25400" rIns="25400" bIns="25400" rtlCol="0" anchor="t">
            <a:normAutofit/>
          </a:bodyPr>
          <a:lstStyle/>
          <a:p>
            <a:pPr algn="l" indent="0" marL="0">
              <a:lnSpc>
                <a:spcPct val="108140"/>
              </a:lnSpc>
              <a:buNone/>
            </a:pPr>
            <a:r>
              <a:rPr lang="en-US" sz="2325" dirty="0">
                <a:solidFill>
                  <a:srgbClr val="201E1D"/>
                </a:solidFill>
                <a:latin typeface="Segoe UI" pitchFamily="34" charset="0"/>
                <a:ea typeface="Segoe UI" pitchFamily="34" charset="-122"/>
                <a:cs typeface="Segoe UI" pitchFamily="34" charset="-120"/>
              </a:rPr>
              <a:t>Learning a new language is not trivial. Finding time while sustaining current reporting obligations is deeply challenging.</a:t>
            </a:r>
            <a:endParaRPr lang="en-US" sz="2325" dirty="0"/>
          </a:p>
        </p:txBody>
      </p:sp>
      <p:sp>
        <p:nvSpPr>
          <p:cNvPr id="15" name="Shape 13"/>
          <p:cNvSpPr/>
          <p:nvPr/>
        </p:nvSpPr>
        <p:spPr>
          <a:xfrm>
            <a:off x="9153525" y="5525770"/>
            <a:ext cx="8220075" cy="3419951"/>
          </a:xfrm>
          <a:prstGeom prst="rect">
            <a:avLst/>
          </a:prstGeom>
          <a:solidFill>
            <a:srgbClr val="FFFFFF"/>
          </a:solidFill>
          <a:ln/>
        </p:spPr>
      </p:sp>
      <p:sp>
        <p:nvSpPr>
          <p:cNvPr id="16" name="Text 14"/>
          <p:cNvSpPr/>
          <p:nvPr/>
        </p:nvSpPr>
        <p:spPr>
          <a:xfrm>
            <a:off x="9572625" y="5868670"/>
            <a:ext cx="8581073"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40C1AC"/>
                </a:solidFill>
                <a:latin typeface="Segoe UI" pitchFamily="34" charset="0"/>
                <a:ea typeface="Segoe UI" pitchFamily="34" charset="-122"/>
                <a:cs typeface="Segoe UI" pitchFamily="34" charset="-120"/>
              </a:rPr>
              <a:t>LEARNING DATABRICKS</a:t>
            </a:r>
            <a:endParaRPr lang="en-US" sz="1800" dirty="0"/>
          </a:p>
        </p:txBody>
      </p:sp>
      <p:sp>
        <p:nvSpPr>
          <p:cNvPr id="17" name="Text 15"/>
          <p:cNvSpPr/>
          <p:nvPr/>
        </p:nvSpPr>
        <p:spPr>
          <a:xfrm>
            <a:off x="9572625" y="6321425"/>
            <a:ext cx="8035004" cy="2178844"/>
          </a:xfrm>
          <a:prstGeom prst="rect">
            <a:avLst/>
          </a:prstGeom>
          <a:noFill/>
          <a:ln/>
        </p:spPr>
        <p:txBody>
          <a:bodyPr wrap="square" lIns="25400" tIns="25400" rIns="25400" bIns="25400" rtlCol="0" anchor="t">
            <a:normAutofit/>
          </a:bodyPr>
          <a:lstStyle/>
          <a:p>
            <a:pPr algn="l" indent="0" marL="0">
              <a:lnSpc>
                <a:spcPct val="108140"/>
              </a:lnSpc>
              <a:buNone/>
            </a:pPr>
            <a:r>
              <a:rPr lang="en-US" sz="2325" dirty="0">
                <a:solidFill>
                  <a:srgbClr val="201E1D"/>
                </a:solidFill>
                <a:latin typeface="Segoe UI" pitchFamily="34" charset="0"/>
                <a:ea typeface="Segoe UI" pitchFamily="34" charset="-122"/>
                <a:cs typeface="Segoe UI" pitchFamily="34" charset="-120"/>
              </a:rPr>
              <a:t>Databricks is a powerful, fast evolving tool. Understanding the peculiarities of how Kaiser has set up their instance(s) of Databricks is difficult. Moreover, core IT Updates to the Databricks system run ahead of clarifying information about changes to the system.</a:t>
            </a:r>
            <a:endParaRPr lang="en-US" sz="2325" dirty="0"/>
          </a:p>
        </p:txBody>
      </p:sp>
      <p:sp>
        <p:nvSpPr>
          <p:cNvPr id="18" name="Shape 16"/>
          <p:cNvSpPr/>
          <p:nvPr/>
        </p:nvSpPr>
        <p:spPr>
          <a:xfrm>
            <a:off x="914400" y="8964771"/>
            <a:ext cx="16459200" cy="13652"/>
          </a:xfrm>
          <a:prstGeom prst="rect">
            <a:avLst/>
          </a:prstGeom>
          <a:solidFill>
            <a:srgbClr val="003B71"/>
          </a:solidFill>
          <a:ln/>
        </p:spPr>
      </p:sp>
      <p:sp>
        <p:nvSpPr>
          <p:cNvPr id="19" name="Text 17"/>
          <p:cNvSpPr/>
          <p:nvPr/>
        </p:nvSpPr>
        <p:spPr>
          <a:xfrm>
            <a:off x="914400" y="9168924"/>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20" name="Text 18"/>
          <p:cNvSpPr/>
          <p:nvPr/>
        </p:nvSpPr>
        <p:spPr>
          <a:xfrm>
            <a:off x="17122457" y="9168924"/>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07</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B71"/>
        </a:solidFill>
      </p:bgPr>
    </p:bg>
    <p:spTree>
      <p:nvGrpSpPr>
        <p:cNvPr id="1" name=""/>
        <p:cNvGrpSpPr/>
        <p:nvPr/>
      </p:nvGrpSpPr>
      <p:grpSpPr>
        <a:xfrm>
          <a:off x="0" y="0"/>
          <a:ext cx="0" cy="0"/>
          <a:chOff x="0" y="0"/>
          <a:chExt cx="0" cy="0"/>
        </a:xfrm>
      </p:grpSpPr>
      <p:sp>
        <p:nvSpPr>
          <p:cNvPr id="2" name="Shape 0"/>
          <p:cNvSpPr/>
          <p:nvPr/>
        </p:nvSpPr>
        <p:spPr>
          <a:xfrm>
            <a:off x="914400" y="1981200"/>
            <a:ext cx="16459200" cy="13652"/>
          </a:xfrm>
          <a:prstGeom prst="rect">
            <a:avLst/>
          </a:prstGeom>
          <a:solidFill>
            <a:srgbClr val="FFFFFF">
              <a:alpha val="35000"/>
            </a:srgbClr>
          </a:solidFill>
          <a:ln/>
        </p:spPr>
      </p:sp>
      <p:sp>
        <p:nvSpPr>
          <p:cNvPr id="3" name="Text 1"/>
          <p:cNvSpPr/>
          <p:nvPr/>
        </p:nvSpPr>
        <p:spPr>
          <a:xfrm>
            <a:off x="914400" y="838200"/>
            <a:ext cx="18105120"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FFFFFF"/>
                </a:solidFill>
                <a:latin typeface="Segoe UI" pitchFamily="34" charset="0"/>
                <a:ea typeface="Segoe UI" pitchFamily="34" charset="-122"/>
                <a:cs typeface="Segoe UI" pitchFamily="34" charset="-120"/>
              </a:rPr>
              <a:t>Asks</a:t>
            </a:r>
            <a:endParaRPr lang="en-US" sz="6300" dirty="0"/>
          </a:p>
        </p:txBody>
      </p:sp>
      <p:sp>
        <p:nvSpPr>
          <p:cNvPr id="4" name="Text 2"/>
          <p:cNvSpPr/>
          <p:nvPr/>
        </p:nvSpPr>
        <p:spPr>
          <a:xfrm>
            <a:off x="14516100" y="2185353"/>
            <a:ext cx="3143250"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40C1AC"/>
                </a:solidFill>
                <a:latin typeface="Segoe UI" pitchFamily="34" charset="0"/>
                <a:ea typeface="Segoe UI" pitchFamily="34" charset="-122"/>
                <a:cs typeface="Segoe UI" pitchFamily="34" charset="-120"/>
              </a:rPr>
              <a:t>WHO</a:t>
            </a:r>
            <a:endParaRPr lang="en-US" sz="1800" dirty="0"/>
          </a:p>
        </p:txBody>
      </p:sp>
      <p:sp>
        <p:nvSpPr>
          <p:cNvPr id="5" name="Shape 3"/>
          <p:cNvSpPr/>
          <p:nvPr/>
        </p:nvSpPr>
        <p:spPr>
          <a:xfrm>
            <a:off x="914400" y="4523423"/>
            <a:ext cx="16459200" cy="9525"/>
          </a:xfrm>
          <a:prstGeom prst="rect">
            <a:avLst/>
          </a:prstGeom>
          <a:solidFill>
            <a:srgbClr val="FFFFFF">
              <a:alpha val="25000"/>
            </a:srgbClr>
          </a:solidFill>
          <a:ln/>
        </p:spPr>
      </p:sp>
      <p:sp>
        <p:nvSpPr>
          <p:cNvPr id="6" name="Shape 4"/>
          <p:cNvSpPr/>
          <p:nvPr/>
        </p:nvSpPr>
        <p:spPr>
          <a:xfrm>
            <a:off x="914400" y="2657158"/>
            <a:ext cx="16459200" cy="9525"/>
          </a:xfrm>
          <a:prstGeom prst="rect">
            <a:avLst/>
          </a:prstGeom>
          <a:solidFill>
            <a:srgbClr val="FFFFFF">
              <a:alpha val="25000"/>
            </a:srgbClr>
          </a:solidFill>
          <a:ln/>
        </p:spPr>
      </p:sp>
      <p:sp>
        <p:nvSpPr>
          <p:cNvPr id="7" name="Text 5"/>
          <p:cNvSpPr/>
          <p:nvPr/>
        </p:nvSpPr>
        <p:spPr>
          <a:xfrm>
            <a:off x="914400" y="2987834"/>
            <a:ext cx="4555966" cy="440849"/>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Segoe UI" pitchFamily="34" charset="0"/>
                <a:ea typeface="Segoe UI" pitchFamily="34" charset="-122"/>
                <a:cs typeface="Segoe UI" pitchFamily="34" charset="-120"/>
              </a:rPr>
              <a:t>Protected Time</a:t>
            </a:r>
            <a:endParaRPr lang="en-US" sz="2400" dirty="0"/>
          </a:p>
        </p:txBody>
      </p:sp>
      <p:sp>
        <p:nvSpPr>
          <p:cNvPr id="8" name="Text 6"/>
          <p:cNvSpPr/>
          <p:nvPr/>
        </p:nvSpPr>
        <p:spPr>
          <a:xfrm>
            <a:off x="5437187" y="2999422"/>
            <a:ext cx="8958850" cy="1238250"/>
          </a:xfrm>
          <a:prstGeom prst="rect">
            <a:avLst/>
          </a:prstGeom>
          <a:noFill/>
          <a:ln/>
        </p:spPr>
        <p:txBody>
          <a:bodyPr wrap="square" lIns="25400" tIns="25400" rIns="25400" bIns="25400" rtlCol="0" anchor="t">
            <a:normAutofit/>
          </a:bodyPr>
          <a:lstStyle/>
          <a:p>
            <a:pPr algn="l" indent="0" marL="0">
              <a:lnSpc>
                <a:spcPct val="104651"/>
              </a:lnSpc>
              <a:buNone/>
            </a:pPr>
            <a:r>
              <a:rPr lang="en-US" sz="2250" dirty="0">
                <a:solidFill>
                  <a:srgbClr val="FFFFFF"/>
                </a:solidFill>
                <a:latin typeface="Segoe UI" pitchFamily="34" charset="0"/>
                <a:ea typeface="Segoe UI" pitchFamily="34" charset="-122"/>
                <a:cs typeface="Segoe UI" pitchFamily="34" charset="-120"/>
              </a:rPr>
              <a:t>Developers need time carve outs to upskill with respect to Databricks, Python and Git. Accommodations will be needed for regular reporting duties.</a:t>
            </a:r>
            <a:endParaRPr lang="en-US" sz="2250" dirty="0"/>
          </a:p>
        </p:txBody>
      </p:sp>
      <p:sp>
        <p:nvSpPr>
          <p:cNvPr id="9" name="Text 7"/>
          <p:cNvSpPr/>
          <p:nvPr/>
        </p:nvSpPr>
        <p:spPr>
          <a:xfrm>
            <a:off x="14516100" y="3049270"/>
            <a:ext cx="3143250" cy="365760"/>
          </a:xfrm>
          <a:prstGeom prst="rect">
            <a:avLst/>
          </a:prstGeom>
          <a:noFill/>
          <a:ln/>
        </p:spPr>
        <p:txBody>
          <a:bodyPr wrap="square" lIns="25400" tIns="25400" rIns="25400" bIns="25400" rtlCol="0" anchor="t">
            <a:normAutofit/>
          </a:bodyPr>
          <a:lstStyle/>
          <a:p>
            <a:pPr algn="l" indent="0" marL="0">
              <a:buNone/>
            </a:pPr>
            <a:r>
              <a:rPr lang="en-US" sz="1950" dirty="0">
                <a:solidFill>
                  <a:srgbClr val="FFFFFF">
                    <a:alpha val="70000"/>
                  </a:srgbClr>
                </a:solidFill>
                <a:latin typeface="Segoe UI" pitchFamily="34" charset="0"/>
                <a:ea typeface="Segoe UI" pitchFamily="34" charset="-122"/>
                <a:cs typeface="Segoe UI" pitchFamily="34" charset="-120"/>
              </a:rPr>
              <a:t>Management</a:t>
            </a:r>
            <a:endParaRPr lang="en-US" sz="1950" dirty="0"/>
          </a:p>
        </p:txBody>
      </p:sp>
      <p:sp>
        <p:nvSpPr>
          <p:cNvPr id="10" name="Shape 8"/>
          <p:cNvSpPr/>
          <p:nvPr/>
        </p:nvSpPr>
        <p:spPr>
          <a:xfrm>
            <a:off x="914400" y="6389688"/>
            <a:ext cx="16459200" cy="9525"/>
          </a:xfrm>
          <a:prstGeom prst="rect">
            <a:avLst/>
          </a:prstGeom>
          <a:solidFill>
            <a:srgbClr val="FFFFFF">
              <a:alpha val="25000"/>
            </a:srgbClr>
          </a:solidFill>
          <a:ln/>
        </p:spPr>
      </p:sp>
      <p:sp>
        <p:nvSpPr>
          <p:cNvPr id="11" name="Text 9"/>
          <p:cNvSpPr/>
          <p:nvPr/>
        </p:nvSpPr>
        <p:spPr>
          <a:xfrm>
            <a:off x="914400" y="4854099"/>
            <a:ext cx="4555966" cy="440849"/>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Segoe UI" pitchFamily="34" charset="0"/>
                <a:ea typeface="Segoe UI" pitchFamily="34" charset="-122"/>
                <a:cs typeface="Segoe UI" pitchFamily="34" charset="-120"/>
              </a:rPr>
              <a:t>Tooling access</a:t>
            </a:r>
            <a:endParaRPr lang="en-US" sz="2400" dirty="0"/>
          </a:p>
        </p:txBody>
      </p:sp>
      <p:sp>
        <p:nvSpPr>
          <p:cNvPr id="12" name="Text 10"/>
          <p:cNvSpPr/>
          <p:nvPr/>
        </p:nvSpPr>
        <p:spPr>
          <a:xfrm>
            <a:off x="5437187" y="4865687"/>
            <a:ext cx="8958850" cy="1238250"/>
          </a:xfrm>
          <a:prstGeom prst="rect">
            <a:avLst/>
          </a:prstGeom>
          <a:noFill/>
          <a:ln/>
        </p:spPr>
        <p:txBody>
          <a:bodyPr wrap="square" lIns="25400" tIns="25400" rIns="25400" bIns="25400" rtlCol="0" anchor="t">
            <a:normAutofit/>
          </a:bodyPr>
          <a:lstStyle/>
          <a:p>
            <a:pPr algn="l" indent="0" marL="0">
              <a:lnSpc>
                <a:spcPct val="104651"/>
              </a:lnSpc>
              <a:buNone/>
            </a:pPr>
            <a:r>
              <a:rPr lang="en-US" sz="2250" dirty="0">
                <a:solidFill>
                  <a:srgbClr val="FFFFFF"/>
                </a:solidFill>
                <a:latin typeface="Segoe UI" pitchFamily="34" charset="0"/>
                <a:ea typeface="Segoe UI" pitchFamily="34" charset="-122"/>
                <a:cs typeface="Segoe UI" pitchFamily="34" charset="-120"/>
              </a:rPr>
              <a:t>Approve and facilitate modern AI tooling beyond CoPilot. Facilitate exploration of integrated development environments that connect to Databricks.</a:t>
            </a:r>
            <a:endParaRPr lang="en-US" sz="2250" dirty="0"/>
          </a:p>
        </p:txBody>
      </p:sp>
      <p:sp>
        <p:nvSpPr>
          <p:cNvPr id="13" name="Text 11"/>
          <p:cNvSpPr/>
          <p:nvPr/>
        </p:nvSpPr>
        <p:spPr>
          <a:xfrm>
            <a:off x="14516100" y="4915535"/>
            <a:ext cx="3143250" cy="365760"/>
          </a:xfrm>
          <a:prstGeom prst="rect">
            <a:avLst/>
          </a:prstGeom>
          <a:noFill/>
          <a:ln/>
        </p:spPr>
        <p:txBody>
          <a:bodyPr wrap="square" lIns="25400" tIns="25400" rIns="25400" bIns="25400" rtlCol="0" anchor="t">
            <a:normAutofit/>
          </a:bodyPr>
          <a:lstStyle/>
          <a:p>
            <a:pPr algn="l" indent="0" marL="0">
              <a:buNone/>
            </a:pPr>
            <a:r>
              <a:rPr lang="en-US" sz="1950" dirty="0">
                <a:solidFill>
                  <a:srgbClr val="FFFFFF">
                    <a:alpha val="70000"/>
                  </a:srgbClr>
                </a:solidFill>
                <a:latin typeface="Segoe UI" pitchFamily="34" charset="0"/>
                <a:ea typeface="Segoe UI" pitchFamily="34" charset="-122"/>
                <a:cs typeface="Segoe UI" pitchFamily="34" charset="-120"/>
              </a:rPr>
              <a:t>IT Procurement</a:t>
            </a:r>
            <a:endParaRPr lang="en-US" sz="1950" dirty="0"/>
          </a:p>
        </p:txBody>
      </p:sp>
      <p:sp>
        <p:nvSpPr>
          <p:cNvPr id="14" name="Shape 12"/>
          <p:cNvSpPr/>
          <p:nvPr/>
        </p:nvSpPr>
        <p:spPr>
          <a:xfrm>
            <a:off x="914400" y="7855902"/>
            <a:ext cx="16459200" cy="9525"/>
          </a:xfrm>
          <a:prstGeom prst="rect">
            <a:avLst/>
          </a:prstGeom>
          <a:solidFill>
            <a:srgbClr val="FFFFFF">
              <a:alpha val="25000"/>
            </a:srgbClr>
          </a:solidFill>
          <a:ln/>
        </p:spPr>
      </p:sp>
      <p:sp>
        <p:nvSpPr>
          <p:cNvPr id="15" name="Text 13"/>
          <p:cNvSpPr/>
          <p:nvPr/>
        </p:nvSpPr>
        <p:spPr>
          <a:xfrm>
            <a:off x="914400" y="6720364"/>
            <a:ext cx="4555966" cy="440849"/>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Segoe UI" pitchFamily="34" charset="0"/>
                <a:ea typeface="Segoe UI" pitchFamily="34" charset="-122"/>
                <a:cs typeface="Segoe UI" pitchFamily="34" charset="-120"/>
              </a:rPr>
              <a:t>Connections</a:t>
            </a:r>
            <a:endParaRPr lang="en-US" sz="2400" dirty="0"/>
          </a:p>
        </p:txBody>
      </p:sp>
      <p:sp>
        <p:nvSpPr>
          <p:cNvPr id="16" name="Text 14"/>
          <p:cNvSpPr/>
          <p:nvPr/>
        </p:nvSpPr>
        <p:spPr>
          <a:xfrm>
            <a:off x="5437187" y="6731952"/>
            <a:ext cx="8958850" cy="838200"/>
          </a:xfrm>
          <a:prstGeom prst="rect">
            <a:avLst/>
          </a:prstGeom>
          <a:noFill/>
          <a:ln/>
        </p:spPr>
        <p:txBody>
          <a:bodyPr wrap="square" lIns="25400" tIns="25400" rIns="25400" bIns="25400" rtlCol="0" anchor="t">
            <a:normAutofit/>
          </a:bodyPr>
          <a:lstStyle/>
          <a:p>
            <a:pPr algn="l" indent="0" marL="0">
              <a:lnSpc>
                <a:spcPct val="104651"/>
              </a:lnSpc>
              <a:buNone/>
            </a:pPr>
            <a:r>
              <a:rPr lang="en-US" sz="2250" dirty="0">
                <a:solidFill>
                  <a:srgbClr val="FFFFFF"/>
                </a:solidFill>
                <a:latin typeface="Segoe UI" pitchFamily="34" charset="0"/>
                <a:ea typeface="Segoe UI" pitchFamily="34" charset="-122"/>
                <a:cs typeface="Segoe UI" pitchFamily="34" charset="-120"/>
              </a:rPr>
              <a:t>Accelerate Databricks connections to key information systems and improve advance notice of platform changes.</a:t>
            </a:r>
            <a:endParaRPr lang="en-US" sz="2250" dirty="0"/>
          </a:p>
        </p:txBody>
      </p:sp>
      <p:sp>
        <p:nvSpPr>
          <p:cNvPr id="17" name="Text 15"/>
          <p:cNvSpPr/>
          <p:nvPr/>
        </p:nvSpPr>
        <p:spPr>
          <a:xfrm>
            <a:off x="14516100" y="6781800"/>
            <a:ext cx="3143250" cy="365760"/>
          </a:xfrm>
          <a:prstGeom prst="rect">
            <a:avLst/>
          </a:prstGeom>
          <a:noFill/>
          <a:ln/>
        </p:spPr>
        <p:txBody>
          <a:bodyPr wrap="square" lIns="25400" tIns="25400" rIns="25400" bIns="25400" rtlCol="0" anchor="t">
            <a:normAutofit/>
          </a:bodyPr>
          <a:lstStyle/>
          <a:p>
            <a:pPr algn="l" indent="0" marL="0">
              <a:buNone/>
            </a:pPr>
            <a:r>
              <a:rPr lang="en-US" sz="1950" dirty="0">
                <a:solidFill>
                  <a:srgbClr val="FFFFFF">
                    <a:alpha val="70000"/>
                  </a:srgbClr>
                </a:solidFill>
                <a:latin typeface="Segoe UI" pitchFamily="34" charset="0"/>
                <a:ea typeface="Segoe UI" pitchFamily="34" charset="-122"/>
                <a:cs typeface="Segoe UI" pitchFamily="34" charset="-120"/>
              </a:rPr>
              <a:t>IT</a:t>
            </a:r>
            <a:endParaRPr lang="en-US" sz="1950" dirty="0"/>
          </a:p>
        </p:txBody>
      </p:sp>
      <p:sp>
        <p:nvSpPr>
          <p:cNvPr id="18" name="Shape 16"/>
          <p:cNvSpPr/>
          <p:nvPr/>
        </p:nvSpPr>
        <p:spPr>
          <a:xfrm>
            <a:off x="914400" y="9322118"/>
            <a:ext cx="16459200" cy="9525"/>
          </a:xfrm>
          <a:prstGeom prst="rect">
            <a:avLst/>
          </a:prstGeom>
          <a:solidFill>
            <a:srgbClr val="FFFFFF">
              <a:alpha val="25000"/>
            </a:srgbClr>
          </a:solidFill>
          <a:ln/>
        </p:spPr>
      </p:sp>
      <p:sp>
        <p:nvSpPr>
          <p:cNvPr id="19" name="Text 17"/>
          <p:cNvSpPr/>
          <p:nvPr/>
        </p:nvSpPr>
        <p:spPr>
          <a:xfrm>
            <a:off x="914400" y="8186579"/>
            <a:ext cx="4555966" cy="440849"/>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Segoe UI" pitchFamily="34" charset="0"/>
                <a:ea typeface="Segoe UI" pitchFamily="34" charset="-122"/>
                <a:cs typeface="Segoe UI" pitchFamily="34" charset="-120"/>
              </a:rPr>
              <a:t>Archival mandate</a:t>
            </a:r>
            <a:endParaRPr lang="en-US" sz="2400" dirty="0"/>
          </a:p>
        </p:txBody>
      </p:sp>
      <p:sp>
        <p:nvSpPr>
          <p:cNvPr id="20" name="Text 18"/>
          <p:cNvSpPr/>
          <p:nvPr/>
        </p:nvSpPr>
        <p:spPr>
          <a:xfrm>
            <a:off x="5437187" y="8198168"/>
            <a:ext cx="8958850" cy="838200"/>
          </a:xfrm>
          <a:prstGeom prst="rect">
            <a:avLst/>
          </a:prstGeom>
          <a:noFill/>
          <a:ln/>
        </p:spPr>
        <p:txBody>
          <a:bodyPr wrap="square" lIns="25400" tIns="25400" rIns="25400" bIns="25400" rtlCol="0" anchor="t">
            <a:normAutofit/>
          </a:bodyPr>
          <a:lstStyle/>
          <a:p>
            <a:pPr algn="l" indent="0" marL="0">
              <a:lnSpc>
                <a:spcPct val="104651"/>
              </a:lnSpc>
              <a:buNone/>
            </a:pPr>
            <a:r>
              <a:rPr lang="en-US" sz="2250" dirty="0">
                <a:solidFill>
                  <a:srgbClr val="FFFFFF"/>
                </a:solidFill>
                <a:latin typeface="Segoe UI" pitchFamily="34" charset="0"/>
                <a:ea typeface="Segoe UI" pitchFamily="34" charset="-122"/>
                <a:cs typeface="Segoe UI" pitchFamily="34" charset="-120"/>
              </a:rPr>
              <a:t>Endorse dependency validation and retirement of low-priority assets before any migration work begins on them.</a:t>
            </a:r>
            <a:endParaRPr lang="en-US" sz="2250" dirty="0"/>
          </a:p>
        </p:txBody>
      </p:sp>
      <p:sp>
        <p:nvSpPr>
          <p:cNvPr id="21" name="Text 19"/>
          <p:cNvSpPr/>
          <p:nvPr/>
        </p:nvSpPr>
        <p:spPr>
          <a:xfrm>
            <a:off x="14516100" y="8248015"/>
            <a:ext cx="3143250" cy="365760"/>
          </a:xfrm>
          <a:prstGeom prst="rect">
            <a:avLst/>
          </a:prstGeom>
          <a:noFill/>
          <a:ln/>
        </p:spPr>
        <p:txBody>
          <a:bodyPr wrap="square" lIns="25400" tIns="25400" rIns="25400" bIns="25400" rtlCol="0" anchor="t">
            <a:normAutofit/>
          </a:bodyPr>
          <a:lstStyle/>
          <a:p>
            <a:pPr algn="l" indent="0" marL="0">
              <a:buNone/>
            </a:pPr>
            <a:r>
              <a:rPr lang="en-US" sz="1950" dirty="0">
                <a:solidFill>
                  <a:srgbClr val="FFFFFF">
                    <a:alpha val="70000"/>
                  </a:srgbClr>
                </a:solidFill>
                <a:latin typeface="Segoe UI" pitchFamily="34" charset="0"/>
                <a:ea typeface="Segoe UI" pitchFamily="34" charset="-122"/>
                <a:cs typeface="Segoe UI" pitchFamily="34" charset="-120"/>
              </a:rPr>
              <a:t>TBD</a:t>
            </a:r>
            <a:endParaRPr lang="en-US" sz="1950" dirty="0"/>
          </a:p>
        </p:txBody>
      </p:sp>
      <p:sp>
        <p:nvSpPr>
          <p:cNvPr id="22" name="Shape 20"/>
          <p:cNvSpPr/>
          <p:nvPr/>
        </p:nvSpPr>
        <p:spPr>
          <a:xfrm>
            <a:off x="914400" y="9328944"/>
            <a:ext cx="16459200" cy="13652"/>
          </a:xfrm>
          <a:prstGeom prst="rect">
            <a:avLst/>
          </a:prstGeom>
          <a:solidFill>
            <a:srgbClr val="FFFFFF">
              <a:alpha val="35000"/>
            </a:srgbClr>
          </a:solidFill>
          <a:ln/>
        </p:spPr>
      </p:sp>
      <p:sp>
        <p:nvSpPr>
          <p:cNvPr id="23" name="Text 21"/>
          <p:cNvSpPr/>
          <p:nvPr/>
        </p:nvSpPr>
        <p:spPr>
          <a:xfrm>
            <a:off x="914400" y="9533096"/>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FFFFF">
                    <a:alpha val="65000"/>
                  </a:srgbClr>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24" name="Text 22"/>
          <p:cNvSpPr/>
          <p:nvPr/>
        </p:nvSpPr>
        <p:spPr>
          <a:xfrm>
            <a:off x="17122457" y="9533096"/>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FFFFFF">
                    <a:alpha val="65000"/>
                  </a:srgbClr>
                </a:solidFill>
                <a:latin typeface="Segoe UI" pitchFamily="34" charset="0"/>
                <a:ea typeface="Segoe UI" pitchFamily="34" charset="-122"/>
                <a:cs typeface="Segoe UI" pitchFamily="34" charset="-120"/>
              </a:rPr>
              <a:t>08</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2472055"/>
            <a:ext cx="16459200" cy="13652"/>
          </a:xfrm>
          <a:prstGeom prst="rect">
            <a:avLst/>
          </a:prstGeom>
          <a:solidFill>
            <a:srgbClr val="003B71"/>
          </a:solidFill>
          <a:ln/>
        </p:spPr>
      </p:sp>
      <p:sp>
        <p:nvSpPr>
          <p:cNvPr id="3" name="Text 1"/>
          <p:cNvSpPr/>
          <p:nvPr/>
        </p:nvSpPr>
        <p:spPr>
          <a:xfrm>
            <a:off x="914400" y="838200"/>
            <a:ext cx="18105120"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0078B3"/>
                </a:solidFill>
                <a:latin typeface="Segoe UI" pitchFamily="34" charset="0"/>
                <a:ea typeface="Segoe UI" pitchFamily="34" charset="-122"/>
                <a:cs typeface="Segoe UI" pitchFamily="34" charset="-120"/>
              </a:rPr>
              <a:t>BACKUP MATERIAL</a:t>
            </a:r>
            <a:endParaRPr lang="en-US" sz="1800" dirty="0"/>
          </a:p>
        </p:txBody>
      </p:sp>
      <p:sp>
        <p:nvSpPr>
          <p:cNvPr id="4" name="Text 2"/>
          <p:cNvSpPr/>
          <p:nvPr/>
        </p:nvSpPr>
        <p:spPr>
          <a:xfrm>
            <a:off x="914400" y="1329055"/>
            <a:ext cx="18105120"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003B71"/>
                </a:solidFill>
                <a:latin typeface="Segoe UI" pitchFamily="34" charset="0"/>
                <a:ea typeface="Segoe UI" pitchFamily="34" charset="-122"/>
                <a:cs typeface="Segoe UI" pitchFamily="34" charset="-120"/>
              </a:rPr>
              <a:t>Appendix</a:t>
            </a:r>
            <a:endParaRPr lang="en-US" sz="6300" dirty="0"/>
          </a:p>
        </p:txBody>
      </p:sp>
      <p:sp>
        <p:nvSpPr>
          <p:cNvPr id="5" name="Shape 3"/>
          <p:cNvSpPr/>
          <p:nvPr/>
        </p:nvSpPr>
        <p:spPr>
          <a:xfrm>
            <a:off x="914400" y="3019108"/>
            <a:ext cx="16459200" cy="5926614"/>
          </a:xfrm>
          <a:prstGeom prst="rect">
            <a:avLst/>
          </a:prstGeom>
          <a:solidFill>
            <a:srgbClr val="D6D4D3"/>
          </a:solidFill>
          <a:ln/>
        </p:spPr>
      </p:sp>
      <p:sp>
        <p:nvSpPr>
          <p:cNvPr id="6" name="Shape 4"/>
          <p:cNvSpPr/>
          <p:nvPr/>
        </p:nvSpPr>
        <p:spPr>
          <a:xfrm>
            <a:off x="914400" y="3019108"/>
            <a:ext cx="5473700" cy="5926614"/>
          </a:xfrm>
          <a:prstGeom prst="rect">
            <a:avLst/>
          </a:prstGeom>
          <a:solidFill>
            <a:srgbClr val="FFFFFF"/>
          </a:solidFill>
          <a:ln/>
        </p:spPr>
      </p:sp>
      <p:sp>
        <p:nvSpPr>
          <p:cNvPr id="7" name="Shape 5"/>
          <p:cNvSpPr/>
          <p:nvPr/>
        </p:nvSpPr>
        <p:spPr>
          <a:xfrm>
            <a:off x="914400" y="3019108"/>
            <a:ext cx="5473700" cy="13652"/>
          </a:xfrm>
          <a:prstGeom prst="rect">
            <a:avLst/>
          </a:prstGeom>
          <a:solidFill>
            <a:srgbClr val="003B71"/>
          </a:solidFill>
          <a:ln/>
        </p:spPr>
      </p:sp>
      <p:sp>
        <p:nvSpPr>
          <p:cNvPr id="8" name="Text 6"/>
          <p:cNvSpPr/>
          <p:nvPr/>
        </p:nvSpPr>
        <p:spPr>
          <a:xfrm>
            <a:off x="914400" y="3337560"/>
            <a:ext cx="5643880" cy="36576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078B3"/>
                </a:solidFill>
                <a:latin typeface="Segoe UI" pitchFamily="34" charset="0"/>
                <a:ea typeface="Segoe UI" pitchFamily="34" charset="-122"/>
                <a:cs typeface="Segoe UI" pitchFamily="34" charset="-120"/>
              </a:rPr>
              <a:t>A — INVENTORY EXTRACT</a:t>
            </a:r>
            <a:endParaRPr lang="en-US" sz="1950" dirty="0"/>
          </a:p>
        </p:txBody>
      </p:sp>
      <p:sp>
        <p:nvSpPr>
          <p:cNvPr id="9" name="Text 7"/>
          <p:cNvSpPr/>
          <p:nvPr/>
        </p:nvSpPr>
        <p:spPr>
          <a:xfrm>
            <a:off x="914400" y="3817620"/>
            <a:ext cx="5284724" cy="811530"/>
          </a:xfrm>
          <a:prstGeom prst="rect">
            <a:avLst/>
          </a:prstGeom>
          <a:noFill/>
          <a:ln/>
        </p:spPr>
        <p:txBody>
          <a:bodyPr wrap="square" lIns="25400" tIns="25400" rIns="25400" bIns="25400" rtlCol="0" anchor="t">
            <a:normAutofit/>
          </a:bodyPr>
          <a:lstStyle/>
          <a:p>
            <a:pPr algn="l" indent="0" marL="0">
              <a:lnSpc>
                <a:spcPct val="108945"/>
              </a:lnSpc>
              <a:buNone/>
            </a:pPr>
            <a:r>
              <a:rPr lang="en-US" sz="2100" dirty="0">
                <a:solidFill>
                  <a:srgbClr val="4A4746"/>
                </a:solidFill>
                <a:latin typeface="Segoe UI" pitchFamily="34" charset="0"/>
                <a:ea typeface="Segoe UI" pitchFamily="34" charset="-122"/>
                <a:cs typeface="Segoe UI" pitchFamily="34" charset="-120"/>
              </a:rPr>
              <a:t>Full script list with assigned priority, owner and last-run date.</a:t>
            </a:r>
            <a:endParaRPr lang="en-US" sz="2100" dirty="0"/>
          </a:p>
        </p:txBody>
      </p:sp>
      <p:sp>
        <p:nvSpPr>
          <p:cNvPr id="10" name="Shape 8"/>
          <p:cNvSpPr/>
          <p:nvPr/>
        </p:nvSpPr>
        <p:spPr>
          <a:xfrm>
            <a:off x="914400" y="4857750"/>
            <a:ext cx="5130800" cy="3783171"/>
          </a:xfrm>
          <a:prstGeom prst="rect">
            <a:avLst/>
          </a:prstGeom>
          <a:ln w="13652">
            <a:solidFill>
              <a:srgbClr val="B9B6B4"/>
            </a:solidFill>
            <a:prstDash val="dash"/>
          </a:ln>
        </p:spPr>
      </p:sp>
      <p:sp>
        <p:nvSpPr>
          <p:cNvPr id="11" name="Text 9"/>
          <p:cNvSpPr/>
          <p:nvPr/>
        </p:nvSpPr>
        <p:spPr>
          <a:xfrm>
            <a:off x="1003490" y="5023802"/>
            <a:ext cx="4952619" cy="3489166"/>
          </a:xfrm>
          <a:prstGeom prst="rect">
            <a:avLst/>
          </a:prstGeom>
          <a:noFill/>
          <a:ln/>
        </p:spPr>
        <p:txBody>
          <a:bodyPr wrap="square" lIns="25400" tIns="25400" rIns="25400" bIns="25400" rtlCol="0" anchor="ctr">
            <a:normAutofit/>
          </a:bodyPr>
          <a:lstStyle/>
          <a:p>
            <a:pPr algn="ctr" indent="0" marL="0">
              <a:buNone/>
            </a:pPr>
            <a:r>
              <a:rPr lang="en-US" sz="1800" dirty="0">
                <a:solidFill>
                  <a:srgbClr val="8A8785"/>
                </a:solidFill>
                <a:latin typeface="Courier New" pitchFamily="34" charset="0"/>
                <a:ea typeface="Courier New" pitchFamily="34" charset="-122"/>
                <a:cs typeface="Courier New" pitchFamily="34" charset="-120"/>
              </a:rPr>
              <a:t>inventory table</a:t>
            </a:r>
            <a:endParaRPr lang="en-US" sz="1800" dirty="0"/>
          </a:p>
        </p:txBody>
      </p:sp>
      <p:sp>
        <p:nvSpPr>
          <p:cNvPr id="12" name="Shape 10"/>
          <p:cNvSpPr/>
          <p:nvPr/>
        </p:nvSpPr>
        <p:spPr>
          <a:xfrm>
            <a:off x="6407150" y="3019108"/>
            <a:ext cx="5473700" cy="5926614"/>
          </a:xfrm>
          <a:prstGeom prst="rect">
            <a:avLst/>
          </a:prstGeom>
          <a:solidFill>
            <a:srgbClr val="FFFFFF"/>
          </a:solidFill>
          <a:ln/>
        </p:spPr>
      </p:sp>
      <p:sp>
        <p:nvSpPr>
          <p:cNvPr id="13" name="Shape 11"/>
          <p:cNvSpPr/>
          <p:nvPr/>
        </p:nvSpPr>
        <p:spPr>
          <a:xfrm>
            <a:off x="6407150" y="3019108"/>
            <a:ext cx="5473700" cy="13652"/>
          </a:xfrm>
          <a:prstGeom prst="rect">
            <a:avLst/>
          </a:prstGeom>
          <a:solidFill>
            <a:srgbClr val="003B71"/>
          </a:solidFill>
          <a:ln/>
        </p:spPr>
      </p:sp>
      <p:sp>
        <p:nvSpPr>
          <p:cNvPr id="14" name="Text 12"/>
          <p:cNvSpPr/>
          <p:nvPr/>
        </p:nvSpPr>
        <p:spPr>
          <a:xfrm>
            <a:off x="6750050" y="3337560"/>
            <a:ext cx="5266690" cy="36576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078B3"/>
                </a:solidFill>
                <a:latin typeface="Segoe UI" pitchFamily="34" charset="0"/>
                <a:ea typeface="Segoe UI" pitchFamily="34" charset="-122"/>
                <a:cs typeface="Segoe UI" pitchFamily="34" charset="-120"/>
              </a:rPr>
              <a:t>B — CRITERIA DEFINITIONS</a:t>
            </a:r>
            <a:endParaRPr lang="en-US" sz="1950" dirty="0"/>
          </a:p>
        </p:txBody>
      </p:sp>
      <p:sp>
        <p:nvSpPr>
          <p:cNvPr id="15" name="Text 13"/>
          <p:cNvSpPr/>
          <p:nvPr/>
        </p:nvSpPr>
        <p:spPr>
          <a:xfrm>
            <a:off x="6750050" y="3817620"/>
            <a:ext cx="4931537" cy="811530"/>
          </a:xfrm>
          <a:prstGeom prst="rect">
            <a:avLst/>
          </a:prstGeom>
          <a:noFill/>
          <a:ln/>
        </p:spPr>
        <p:txBody>
          <a:bodyPr wrap="square" lIns="25400" tIns="25400" rIns="25400" bIns="25400" rtlCol="0" anchor="t">
            <a:normAutofit/>
          </a:bodyPr>
          <a:lstStyle/>
          <a:p>
            <a:pPr algn="l" indent="0" marL="0">
              <a:lnSpc>
                <a:spcPct val="108945"/>
              </a:lnSpc>
              <a:buNone/>
            </a:pPr>
            <a:r>
              <a:rPr lang="en-US" sz="2100" dirty="0">
                <a:solidFill>
                  <a:srgbClr val="4A4746"/>
                </a:solidFill>
                <a:latin typeface="Segoe UI" pitchFamily="34" charset="0"/>
                <a:ea typeface="Segoe UI" pitchFamily="34" charset="-122"/>
                <a:cs typeface="Segoe UI" pitchFamily="34" charset="-120"/>
              </a:rPr>
              <a:t>How each of the five priority criteria was scored and weighted.</a:t>
            </a:r>
            <a:endParaRPr lang="en-US" sz="2100" dirty="0"/>
          </a:p>
        </p:txBody>
      </p:sp>
      <p:sp>
        <p:nvSpPr>
          <p:cNvPr id="16" name="Shape 14"/>
          <p:cNvSpPr/>
          <p:nvPr/>
        </p:nvSpPr>
        <p:spPr>
          <a:xfrm>
            <a:off x="6750050" y="4857750"/>
            <a:ext cx="4787900" cy="3783171"/>
          </a:xfrm>
          <a:prstGeom prst="rect">
            <a:avLst/>
          </a:prstGeom>
          <a:ln w="13652">
            <a:solidFill>
              <a:srgbClr val="B9B6B4"/>
            </a:solidFill>
            <a:prstDash val="dash"/>
          </a:ln>
        </p:spPr>
      </p:sp>
      <p:sp>
        <p:nvSpPr>
          <p:cNvPr id="17" name="Text 15"/>
          <p:cNvSpPr/>
          <p:nvPr/>
        </p:nvSpPr>
        <p:spPr>
          <a:xfrm>
            <a:off x="6844284" y="5023802"/>
            <a:ext cx="4599432" cy="3489166"/>
          </a:xfrm>
          <a:prstGeom prst="rect">
            <a:avLst/>
          </a:prstGeom>
          <a:noFill/>
          <a:ln/>
        </p:spPr>
        <p:txBody>
          <a:bodyPr wrap="square" lIns="25400" tIns="25400" rIns="25400" bIns="25400" rtlCol="0" anchor="ctr">
            <a:normAutofit/>
          </a:bodyPr>
          <a:lstStyle/>
          <a:p>
            <a:pPr algn="ctr" indent="0" marL="0">
              <a:buNone/>
            </a:pPr>
            <a:r>
              <a:rPr lang="en-US" sz="1800" dirty="0">
                <a:solidFill>
                  <a:srgbClr val="8A8785"/>
                </a:solidFill>
                <a:latin typeface="Courier New" pitchFamily="34" charset="0"/>
                <a:ea typeface="Courier New" pitchFamily="34" charset="-122"/>
                <a:cs typeface="Courier New" pitchFamily="34" charset="-120"/>
              </a:rPr>
              <a:t>scoring rubric</a:t>
            </a:r>
            <a:endParaRPr lang="en-US" sz="1800" dirty="0"/>
          </a:p>
        </p:txBody>
      </p:sp>
      <p:sp>
        <p:nvSpPr>
          <p:cNvPr id="18" name="Shape 16"/>
          <p:cNvSpPr/>
          <p:nvPr/>
        </p:nvSpPr>
        <p:spPr>
          <a:xfrm>
            <a:off x="11899900" y="3019108"/>
            <a:ext cx="5473700" cy="5926614"/>
          </a:xfrm>
          <a:prstGeom prst="rect">
            <a:avLst/>
          </a:prstGeom>
          <a:solidFill>
            <a:srgbClr val="FFFFFF"/>
          </a:solidFill>
          <a:ln/>
        </p:spPr>
      </p:sp>
      <p:sp>
        <p:nvSpPr>
          <p:cNvPr id="19" name="Shape 17"/>
          <p:cNvSpPr/>
          <p:nvPr/>
        </p:nvSpPr>
        <p:spPr>
          <a:xfrm>
            <a:off x="11899900" y="3019108"/>
            <a:ext cx="5473700" cy="13652"/>
          </a:xfrm>
          <a:prstGeom prst="rect">
            <a:avLst/>
          </a:prstGeom>
          <a:solidFill>
            <a:srgbClr val="003B71"/>
          </a:solidFill>
          <a:ln/>
        </p:spPr>
      </p:sp>
      <p:sp>
        <p:nvSpPr>
          <p:cNvPr id="20" name="Text 18"/>
          <p:cNvSpPr/>
          <p:nvPr/>
        </p:nvSpPr>
        <p:spPr>
          <a:xfrm>
            <a:off x="12242800" y="3337560"/>
            <a:ext cx="5643880" cy="36576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078B3"/>
                </a:solidFill>
                <a:latin typeface="Segoe UI" pitchFamily="34" charset="0"/>
                <a:ea typeface="Segoe UI" pitchFamily="34" charset="-122"/>
                <a:cs typeface="Segoe UI" pitchFamily="34" charset="-120"/>
              </a:rPr>
              <a:t>C — COUNTS BY DOMAIN</a:t>
            </a:r>
            <a:endParaRPr lang="en-US" sz="1950" dirty="0"/>
          </a:p>
        </p:txBody>
      </p:sp>
      <p:sp>
        <p:nvSpPr>
          <p:cNvPr id="21" name="Text 19"/>
          <p:cNvSpPr/>
          <p:nvPr/>
        </p:nvSpPr>
        <p:spPr>
          <a:xfrm>
            <a:off x="12242800" y="3817620"/>
            <a:ext cx="5284724" cy="811530"/>
          </a:xfrm>
          <a:prstGeom prst="rect">
            <a:avLst/>
          </a:prstGeom>
          <a:noFill/>
          <a:ln/>
        </p:spPr>
        <p:txBody>
          <a:bodyPr wrap="square" lIns="25400" tIns="25400" rIns="25400" bIns="25400" rtlCol="0" anchor="t">
            <a:normAutofit/>
          </a:bodyPr>
          <a:lstStyle/>
          <a:p>
            <a:pPr algn="l" indent="0" marL="0">
              <a:lnSpc>
                <a:spcPct val="108945"/>
              </a:lnSpc>
              <a:buNone/>
            </a:pPr>
            <a:r>
              <a:rPr lang="en-US" sz="2100" dirty="0">
                <a:solidFill>
                  <a:srgbClr val="4A4746"/>
                </a:solidFill>
                <a:latin typeface="Segoe UI" pitchFamily="34" charset="0"/>
                <a:ea typeface="Segoe UI" pitchFamily="34" charset="-122"/>
                <a:cs typeface="Segoe UI" pitchFamily="34" charset="-120"/>
              </a:rPr>
              <a:t>Priority distribution across reporting domains and data marts.</a:t>
            </a:r>
            <a:endParaRPr lang="en-US" sz="2100" dirty="0"/>
          </a:p>
        </p:txBody>
      </p:sp>
      <p:sp>
        <p:nvSpPr>
          <p:cNvPr id="22" name="Shape 20"/>
          <p:cNvSpPr/>
          <p:nvPr/>
        </p:nvSpPr>
        <p:spPr>
          <a:xfrm>
            <a:off x="12242800" y="4857750"/>
            <a:ext cx="5130800" cy="3783171"/>
          </a:xfrm>
          <a:prstGeom prst="rect">
            <a:avLst/>
          </a:prstGeom>
          <a:ln w="13652">
            <a:solidFill>
              <a:srgbClr val="B9B6B4"/>
            </a:solidFill>
            <a:prstDash val="dash"/>
          </a:ln>
        </p:spPr>
      </p:sp>
      <p:sp>
        <p:nvSpPr>
          <p:cNvPr id="23" name="Text 21"/>
          <p:cNvSpPr/>
          <p:nvPr/>
        </p:nvSpPr>
        <p:spPr>
          <a:xfrm>
            <a:off x="12331891" y="5023802"/>
            <a:ext cx="4952619" cy="3489166"/>
          </a:xfrm>
          <a:prstGeom prst="rect">
            <a:avLst/>
          </a:prstGeom>
          <a:noFill/>
          <a:ln/>
        </p:spPr>
        <p:txBody>
          <a:bodyPr wrap="square" lIns="25400" tIns="25400" rIns="25400" bIns="25400" rtlCol="0" anchor="ctr">
            <a:normAutofit/>
          </a:bodyPr>
          <a:lstStyle/>
          <a:p>
            <a:pPr algn="ctr" indent="0" marL="0">
              <a:buNone/>
            </a:pPr>
            <a:r>
              <a:rPr lang="en-US" sz="1800" dirty="0">
                <a:solidFill>
                  <a:srgbClr val="8A8785"/>
                </a:solidFill>
                <a:latin typeface="Courier New" pitchFamily="34" charset="0"/>
                <a:ea typeface="Courier New" pitchFamily="34" charset="-122"/>
                <a:cs typeface="Courier New" pitchFamily="34" charset="-120"/>
              </a:rPr>
              <a:t>chart placeholder</a:t>
            </a:r>
            <a:endParaRPr lang="en-US" sz="1800" dirty="0"/>
          </a:p>
        </p:txBody>
      </p:sp>
      <p:sp>
        <p:nvSpPr>
          <p:cNvPr id="24" name="Shape 22"/>
          <p:cNvSpPr/>
          <p:nvPr/>
        </p:nvSpPr>
        <p:spPr>
          <a:xfrm>
            <a:off x="914400" y="8964771"/>
            <a:ext cx="16459200" cy="13652"/>
          </a:xfrm>
          <a:prstGeom prst="rect">
            <a:avLst/>
          </a:prstGeom>
          <a:solidFill>
            <a:srgbClr val="003B71"/>
          </a:solidFill>
          <a:ln/>
        </p:spPr>
      </p:sp>
      <p:sp>
        <p:nvSpPr>
          <p:cNvPr id="25" name="Text 23"/>
          <p:cNvSpPr/>
          <p:nvPr/>
        </p:nvSpPr>
        <p:spPr>
          <a:xfrm>
            <a:off x="914400" y="9168924"/>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26" name="Text 24"/>
          <p:cNvSpPr/>
          <p:nvPr/>
        </p:nvSpPr>
        <p:spPr>
          <a:xfrm>
            <a:off x="17122457" y="9168924"/>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09</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2472055"/>
            <a:ext cx="16459200" cy="13652"/>
          </a:xfrm>
          <a:prstGeom prst="rect">
            <a:avLst/>
          </a:prstGeom>
          <a:solidFill>
            <a:srgbClr val="003B71"/>
          </a:solidFill>
          <a:ln/>
        </p:spPr>
      </p:sp>
      <p:sp>
        <p:nvSpPr>
          <p:cNvPr id="3" name="Text 1"/>
          <p:cNvSpPr/>
          <p:nvPr/>
        </p:nvSpPr>
        <p:spPr>
          <a:xfrm>
            <a:off x="914400" y="838200"/>
            <a:ext cx="18105120"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0078B3"/>
                </a:solidFill>
                <a:latin typeface="Segoe UI" pitchFamily="34" charset="0"/>
                <a:ea typeface="Segoe UI" pitchFamily="34" charset="-122"/>
                <a:cs typeface="Segoe UI" pitchFamily="34" charset="-120"/>
              </a:rPr>
              <a:t>APPENDIX D — THROUGHPUT MODEL</a:t>
            </a:r>
            <a:endParaRPr lang="en-US" sz="1800" dirty="0"/>
          </a:p>
        </p:txBody>
      </p:sp>
      <p:sp>
        <p:nvSpPr>
          <p:cNvPr id="4" name="Text 2"/>
          <p:cNvSpPr/>
          <p:nvPr/>
        </p:nvSpPr>
        <p:spPr>
          <a:xfrm>
            <a:off x="914400" y="1329055"/>
            <a:ext cx="18105120"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003B71"/>
                </a:solidFill>
                <a:latin typeface="Segoe UI" pitchFamily="34" charset="0"/>
                <a:ea typeface="Segoe UI" pitchFamily="34" charset="-122"/>
                <a:cs typeface="Segoe UI" pitchFamily="34" charset="-120"/>
              </a:rPr>
              <a:t>High Priority Timeline</a:t>
            </a:r>
            <a:endParaRPr lang="en-US" sz="6300" dirty="0"/>
          </a:p>
        </p:txBody>
      </p:sp>
      <p:sp>
        <p:nvSpPr>
          <p:cNvPr id="5" name="Shape 3"/>
          <p:cNvSpPr/>
          <p:nvPr/>
        </p:nvSpPr>
        <p:spPr>
          <a:xfrm>
            <a:off x="914400" y="2866708"/>
            <a:ext cx="16459200" cy="1401763"/>
          </a:xfrm>
          <a:prstGeom prst="rect">
            <a:avLst/>
          </a:prstGeom>
          <a:solidFill>
            <a:srgbClr val="D6D4D3"/>
          </a:solidFill>
          <a:ln/>
        </p:spPr>
      </p:sp>
      <p:sp>
        <p:nvSpPr>
          <p:cNvPr id="6" name="Shape 4"/>
          <p:cNvSpPr/>
          <p:nvPr/>
        </p:nvSpPr>
        <p:spPr>
          <a:xfrm>
            <a:off x="914400" y="2866708"/>
            <a:ext cx="4100513" cy="1401763"/>
          </a:xfrm>
          <a:prstGeom prst="rect">
            <a:avLst/>
          </a:prstGeom>
          <a:solidFill>
            <a:srgbClr val="FFFFFF"/>
          </a:solidFill>
          <a:ln/>
        </p:spPr>
      </p:sp>
      <p:sp>
        <p:nvSpPr>
          <p:cNvPr id="7" name="Text 5"/>
          <p:cNvSpPr/>
          <p:nvPr/>
        </p:nvSpPr>
        <p:spPr>
          <a:xfrm>
            <a:off x="914400" y="3095308"/>
            <a:ext cx="4175284" cy="317976"/>
          </a:xfrm>
          <a:prstGeom prst="rect">
            <a:avLst/>
          </a:prstGeom>
          <a:noFill/>
          <a:ln/>
        </p:spPr>
        <p:txBody>
          <a:bodyPr wrap="square" lIns="25400" tIns="25400" rIns="25400" bIns="25400" rtlCol="0" anchor="t">
            <a:normAutofit/>
          </a:bodyPr>
          <a:lstStyle/>
          <a:p>
            <a:pPr algn="l" indent="0" marL="0">
              <a:buNone/>
            </a:pPr>
            <a:r>
              <a:rPr lang="en-US" sz="1650" b="1" spc="231" kern="0" dirty="0">
                <a:solidFill>
                  <a:srgbClr val="0078B3"/>
                </a:solidFill>
                <a:latin typeface="Segoe UI" pitchFamily="34" charset="0"/>
                <a:ea typeface="Segoe UI" pitchFamily="34" charset="-122"/>
                <a:cs typeface="Segoe UI" pitchFamily="34" charset="-120"/>
              </a:rPr>
              <a:t>SCRIPTS</a:t>
            </a:r>
            <a:endParaRPr lang="en-US" sz="1650" dirty="0"/>
          </a:p>
        </p:txBody>
      </p:sp>
      <p:sp>
        <p:nvSpPr>
          <p:cNvPr id="8" name="Text 6"/>
          <p:cNvSpPr/>
          <p:nvPr/>
        </p:nvSpPr>
        <p:spPr>
          <a:xfrm>
            <a:off x="914400" y="3432334"/>
            <a:ext cx="4175284" cy="645636"/>
          </a:xfrm>
          <a:prstGeom prst="rect">
            <a:avLst/>
          </a:prstGeom>
          <a:noFill/>
          <a:ln/>
        </p:spPr>
        <p:txBody>
          <a:bodyPr wrap="square" lIns="25400" tIns="25400" rIns="25400" bIns="25400" rtlCol="0" anchor="t">
            <a:normAutofit/>
          </a:bodyPr>
          <a:lstStyle/>
          <a:p>
            <a:pPr algn="l" indent="0" marL="0">
              <a:buNone/>
            </a:pPr>
            <a:r>
              <a:rPr lang="en-US" sz="3600" b="1" dirty="0">
                <a:solidFill>
                  <a:srgbClr val="003B71"/>
                </a:solidFill>
                <a:latin typeface="Segoe UI" pitchFamily="34" charset="0"/>
                <a:ea typeface="Segoe UI" pitchFamily="34" charset="-122"/>
                <a:cs typeface="Segoe UI" pitchFamily="34" charset="-120"/>
              </a:rPr>
              <a:t>50</a:t>
            </a:r>
            <a:endParaRPr lang="en-US" sz="3600" dirty="0"/>
          </a:p>
        </p:txBody>
      </p:sp>
      <p:sp>
        <p:nvSpPr>
          <p:cNvPr id="9" name="Shape 7"/>
          <p:cNvSpPr/>
          <p:nvPr/>
        </p:nvSpPr>
        <p:spPr>
          <a:xfrm>
            <a:off x="5033963" y="2866708"/>
            <a:ext cx="4100513" cy="1401763"/>
          </a:xfrm>
          <a:prstGeom prst="rect">
            <a:avLst/>
          </a:prstGeom>
          <a:solidFill>
            <a:srgbClr val="FFFFFF"/>
          </a:solidFill>
          <a:ln/>
        </p:spPr>
      </p:sp>
      <p:sp>
        <p:nvSpPr>
          <p:cNvPr id="10" name="Text 8"/>
          <p:cNvSpPr/>
          <p:nvPr/>
        </p:nvSpPr>
        <p:spPr>
          <a:xfrm>
            <a:off x="5338763" y="3095308"/>
            <a:ext cx="3840004" cy="317976"/>
          </a:xfrm>
          <a:prstGeom prst="rect">
            <a:avLst/>
          </a:prstGeom>
          <a:noFill/>
          <a:ln/>
        </p:spPr>
        <p:txBody>
          <a:bodyPr wrap="square" lIns="25400" tIns="25400" rIns="25400" bIns="25400" rtlCol="0" anchor="t">
            <a:normAutofit/>
          </a:bodyPr>
          <a:lstStyle/>
          <a:p>
            <a:pPr algn="l" indent="0" marL="0">
              <a:buNone/>
            </a:pPr>
            <a:r>
              <a:rPr lang="en-US" sz="1650" b="1" spc="231" kern="0" dirty="0">
                <a:solidFill>
                  <a:srgbClr val="0078B3"/>
                </a:solidFill>
                <a:latin typeface="Segoe UI" pitchFamily="34" charset="0"/>
                <a:ea typeface="Segoe UI" pitchFamily="34" charset="-122"/>
                <a:cs typeface="Segoe UI" pitchFamily="34" charset="-120"/>
              </a:rPr>
              <a:t>AVG. PER SCRIPT</a:t>
            </a:r>
            <a:endParaRPr lang="en-US" sz="1650" dirty="0"/>
          </a:p>
        </p:txBody>
      </p:sp>
      <p:sp>
        <p:nvSpPr>
          <p:cNvPr id="11" name="Text 9"/>
          <p:cNvSpPr/>
          <p:nvPr/>
        </p:nvSpPr>
        <p:spPr>
          <a:xfrm>
            <a:off x="5338763" y="3432334"/>
            <a:ext cx="3840004" cy="645636"/>
          </a:xfrm>
          <a:prstGeom prst="rect">
            <a:avLst/>
          </a:prstGeom>
          <a:noFill/>
          <a:ln/>
        </p:spPr>
        <p:txBody>
          <a:bodyPr wrap="square" lIns="25400" tIns="25400" rIns="25400" bIns="25400" rtlCol="0" anchor="t">
            <a:normAutofit/>
          </a:bodyPr>
          <a:lstStyle/>
          <a:p>
            <a:pPr algn="l" indent="0" marL="0">
              <a:buNone/>
            </a:pPr>
            <a:r>
              <a:rPr lang="en-US" sz="3600" b="1" dirty="0">
                <a:solidFill>
                  <a:srgbClr val="003B71"/>
                </a:solidFill>
                <a:latin typeface="Segoe UI" pitchFamily="34" charset="0"/>
                <a:ea typeface="Segoe UI" pitchFamily="34" charset="-122"/>
                <a:cs typeface="Segoe UI" pitchFamily="34" charset="-120"/>
              </a:rPr>
              <a:t>6 days</a:t>
            </a:r>
            <a:endParaRPr lang="en-US" sz="3600" dirty="0"/>
          </a:p>
        </p:txBody>
      </p:sp>
      <p:sp>
        <p:nvSpPr>
          <p:cNvPr id="12" name="Shape 10"/>
          <p:cNvSpPr/>
          <p:nvPr/>
        </p:nvSpPr>
        <p:spPr>
          <a:xfrm>
            <a:off x="9153525" y="2866708"/>
            <a:ext cx="4100513" cy="1401763"/>
          </a:xfrm>
          <a:prstGeom prst="rect">
            <a:avLst/>
          </a:prstGeom>
          <a:solidFill>
            <a:srgbClr val="FFFFFF"/>
          </a:solidFill>
          <a:ln/>
        </p:spPr>
      </p:sp>
      <p:sp>
        <p:nvSpPr>
          <p:cNvPr id="13" name="Text 11"/>
          <p:cNvSpPr/>
          <p:nvPr/>
        </p:nvSpPr>
        <p:spPr>
          <a:xfrm>
            <a:off x="9458325" y="3095308"/>
            <a:ext cx="3840004" cy="317976"/>
          </a:xfrm>
          <a:prstGeom prst="rect">
            <a:avLst/>
          </a:prstGeom>
          <a:noFill/>
          <a:ln/>
        </p:spPr>
        <p:txBody>
          <a:bodyPr wrap="square" lIns="25400" tIns="25400" rIns="25400" bIns="25400" rtlCol="0" anchor="t">
            <a:normAutofit/>
          </a:bodyPr>
          <a:lstStyle/>
          <a:p>
            <a:pPr algn="l" indent="0" marL="0">
              <a:buNone/>
            </a:pPr>
            <a:r>
              <a:rPr lang="en-US" sz="1650" b="1" spc="231" kern="0" dirty="0">
                <a:solidFill>
                  <a:srgbClr val="0078B3"/>
                </a:solidFill>
                <a:latin typeface="Segoe UI" pitchFamily="34" charset="0"/>
                <a:ea typeface="Segoe UI" pitchFamily="34" charset="-122"/>
                <a:cs typeface="Segoe UI" pitchFamily="34" charset="-120"/>
              </a:rPr>
              <a:t>TOTAL EFFORT</a:t>
            </a:r>
            <a:endParaRPr lang="en-US" sz="1650" dirty="0"/>
          </a:p>
        </p:txBody>
      </p:sp>
      <p:sp>
        <p:nvSpPr>
          <p:cNvPr id="14" name="Text 12"/>
          <p:cNvSpPr/>
          <p:nvPr/>
        </p:nvSpPr>
        <p:spPr>
          <a:xfrm>
            <a:off x="9458325" y="3432334"/>
            <a:ext cx="3840004" cy="645636"/>
          </a:xfrm>
          <a:prstGeom prst="rect">
            <a:avLst/>
          </a:prstGeom>
          <a:noFill/>
          <a:ln/>
        </p:spPr>
        <p:txBody>
          <a:bodyPr wrap="square" lIns="25400" tIns="25400" rIns="25400" bIns="25400" rtlCol="0" anchor="t">
            <a:normAutofit/>
          </a:bodyPr>
          <a:lstStyle/>
          <a:p>
            <a:pPr algn="l" indent="0" marL="0">
              <a:buNone/>
            </a:pPr>
            <a:r>
              <a:rPr lang="en-US" sz="3600" b="1" dirty="0">
                <a:solidFill>
                  <a:srgbClr val="003B71"/>
                </a:solidFill>
                <a:latin typeface="Segoe UI" pitchFamily="34" charset="0"/>
                <a:ea typeface="Segoe UI" pitchFamily="34" charset="-122"/>
                <a:cs typeface="Segoe UI" pitchFamily="34" charset="-120"/>
              </a:rPr>
              <a:t>300 days</a:t>
            </a:r>
            <a:endParaRPr lang="en-US" sz="3600" dirty="0"/>
          </a:p>
        </p:txBody>
      </p:sp>
      <p:sp>
        <p:nvSpPr>
          <p:cNvPr id="15" name="Shape 13"/>
          <p:cNvSpPr/>
          <p:nvPr/>
        </p:nvSpPr>
        <p:spPr>
          <a:xfrm>
            <a:off x="13273088" y="2866708"/>
            <a:ext cx="4100513" cy="1401763"/>
          </a:xfrm>
          <a:prstGeom prst="rect">
            <a:avLst/>
          </a:prstGeom>
          <a:solidFill>
            <a:srgbClr val="FFFFFF"/>
          </a:solidFill>
          <a:ln/>
        </p:spPr>
      </p:sp>
      <p:sp>
        <p:nvSpPr>
          <p:cNvPr id="16" name="Text 14"/>
          <p:cNvSpPr/>
          <p:nvPr/>
        </p:nvSpPr>
        <p:spPr>
          <a:xfrm>
            <a:off x="13577888" y="3095308"/>
            <a:ext cx="4175284" cy="317976"/>
          </a:xfrm>
          <a:prstGeom prst="rect">
            <a:avLst/>
          </a:prstGeom>
          <a:noFill/>
          <a:ln/>
        </p:spPr>
        <p:txBody>
          <a:bodyPr wrap="square" lIns="25400" tIns="25400" rIns="25400" bIns="25400" rtlCol="0" anchor="t">
            <a:normAutofit/>
          </a:bodyPr>
          <a:lstStyle/>
          <a:p>
            <a:pPr algn="l" indent="0" marL="0">
              <a:buNone/>
            </a:pPr>
            <a:r>
              <a:rPr lang="en-US" sz="1650" b="1" spc="231" kern="0" dirty="0">
                <a:solidFill>
                  <a:srgbClr val="0078B3"/>
                </a:solidFill>
                <a:latin typeface="Segoe UI" pitchFamily="34" charset="0"/>
                <a:ea typeface="Segoe UI" pitchFamily="34" charset="-122"/>
                <a:cs typeface="Segoe UI" pitchFamily="34" charset="-120"/>
              </a:rPr>
              <a:t>ASSUMPTION</a:t>
            </a:r>
            <a:endParaRPr lang="en-US" sz="1650" dirty="0"/>
          </a:p>
        </p:txBody>
      </p:sp>
      <p:sp>
        <p:nvSpPr>
          <p:cNvPr id="17" name="Text 15"/>
          <p:cNvSpPr/>
          <p:nvPr/>
        </p:nvSpPr>
        <p:spPr>
          <a:xfrm>
            <a:off x="13577888" y="3489484"/>
            <a:ext cx="4175284" cy="409575"/>
          </a:xfrm>
          <a:prstGeom prst="rect">
            <a:avLst/>
          </a:prstGeom>
          <a:noFill/>
          <a:ln/>
        </p:spPr>
        <p:txBody>
          <a:bodyPr wrap="square" lIns="25400" tIns="25400" rIns="25400" bIns="25400" rtlCol="0" anchor="t">
            <a:normAutofit/>
          </a:bodyPr>
          <a:lstStyle/>
          <a:p>
            <a:pPr algn="l" indent="0" marL="0">
              <a:lnSpc>
                <a:spcPct val="97176"/>
              </a:lnSpc>
              <a:buNone/>
            </a:pPr>
            <a:r>
              <a:rPr lang="en-US" sz="2250" b="1" dirty="0">
                <a:solidFill>
                  <a:srgbClr val="201E1D"/>
                </a:solidFill>
                <a:latin typeface="Segoe UI" pitchFamily="34" charset="0"/>
                <a:ea typeface="Segoe UI" pitchFamily="34" charset="-122"/>
                <a:cs typeface="Segoe UI" pitchFamily="34" charset="-120"/>
              </a:rPr>
              <a:t>One developer, sequential</a:t>
            </a:r>
            <a:endParaRPr lang="en-US" sz="2250" dirty="0"/>
          </a:p>
        </p:txBody>
      </p:sp>
      <p:sp>
        <p:nvSpPr>
          <p:cNvPr id="18" name="Shape 16"/>
          <p:cNvSpPr/>
          <p:nvPr/>
        </p:nvSpPr>
        <p:spPr>
          <a:xfrm>
            <a:off x="914400" y="4725670"/>
            <a:ext cx="16459200" cy="13652"/>
          </a:xfrm>
          <a:prstGeom prst="rect">
            <a:avLst/>
          </a:prstGeom>
          <a:solidFill>
            <a:srgbClr val="003B71"/>
          </a:solidFill>
          <a:ln/>
        </p:spPr>
      </p:sp>
      <p:sp>
        <p:nvSpPr>
          <p:cNvPr id="19" name="Text 17"/>
          <p:cNvSpPr/>
          <p:nvPr/>
        </p:nvSpPr>
        <p:spPr>
          <a:xfrm>
            <a:off x="914400" y="5132546"/>
            <a:ext cx="3143250" cy="338455"/>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78B3"/>
                </a:solidFill>
                <a:latin typeface="Segoe UI" pitchFamily="34" charset="0"/>
                <a:ea typeface="Segoe UI" pitchFamily="34" charset="-122"/>
                <a:cs typeface="Segoe UI" pitchFamily="34" charset="-120"/>
              </a:rPr>
              <a:t>SCENARIO</a:t>
            </a:r>
            <a:endParaRPr lang="en-US" sz="1800" dirty="0"/>
          </a:p>
        </p:txBody>
      </p:sp>
      <p:sp>
        <p:nvSpPr>
          <p:cNvPr id="20" name="Shape 18"/>
          <p:cNvSpPr/>
          <p:nvPr/>
        </p:nvSpPr>
        <p:spPr>
          <a:xfrm>
            <a:off x="4152900" y="5476399"/>
            <a:ext cx="13220700" cy="9525"/>
          </a:xfrm>
          <a:prstGeom prst="rect">
            <a:avLst/>
          </a:prstGeom>
          <a:solidFill>
            <a:srgbClr val="D6D4D3"/>
          </a:solidFill>
          <a:ln/>
        </p:spPr>
      </p:sp>
      <p:sp>
        <p:nvSpPr>
          <p:cNvPr id="21" name="Text 19"/>
          <p:cNvSpPr/>
          <p:nvPr/>
        </p:nvSpPr>
        <p:spPr>
          <a:xfrm>
            <a:off x="4152900" y="5082222"/>
            <a:ext cx="1615805" cy="317976"/>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6B6866"/>
                </a:solidFill>
                <a:latin typeface="Segoe UI" pitchFamily="34" charset="0"/>
                <a:ea typeface="Segoe UI" pitchFamily="34" charset="-122"/>
                <a:cs typeface="Segoe UI" pitchFamily="34" charset="-120"/>
              </a:rPr>
              <a:t>Oct 26</a:t>
            </a:r>
            <a:endParaRPr lang="en-US" sz="1650" dirty="0"/>
          </a:p>
        </p:txBody>
      </p:sp>
      <p:sp>
        <p:nvSpPr>
          <p:cNvPr id="22" name="Text 20"/>
          <p:cNvSpPr/>
          <p:nvPr/>
        </p:nvSpPr>
        <p:spPr>
          <a:xfrm>
            <a:off x="5621814" y="5082222"/>
            <a:ext cx="1615805" cy="317976"/>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6B6866"/>
                </a:solidFill>
                <a:latin typeface="Segoe UI" pitchFamily="34" charset="0"/>
                <a:ea typeface="Segoe UI" pitchFamily="34" charset="-122"/>
                <a:cs typeface="Segoe UI" pitchFamily="34" charset="-120"/>
              </a:rPr>
              <a:t>Jan 27</a:t>
            </a:r>
            <a:endParaRPr lang="en-US" sz="1650" dirty="0"/>
          </a:p>
        </p:txBody>
      </p:sp>
      <p:sp>
        <p:nvSpPr>
          <p:cNvPr id="23" name="Text 21"/>
          <p:cNvSpPr/>
          <p:nvPr/>
        </p:nvSpPr>
        <p:spPr>
          <a:xfrm>
            <a:off x="7090728" y="5082222"/>
            <a:ext cx="1615805" cy="317976"/>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6B6866"/>
                </a:solidFill>
                <a:latin typeface="Segoe UI" pitchFamily="34" charset="0"/>
                <a:ea typeface="Segoe UI" pitchFamily="34" charset="-122"/>
                <a:cs typeface="Segoe UI" pitchFamily="34" charset="-120"/>
              </a:rPr>
              <a:t>Apr 27</a:t>
            </a:r>
            <a:endParaRPr lang="en-US" sz="1650" dirty="0"/>
          </a:p>
        </p:txBody>
      </p:sp>
      <p:sp>
        <p:nvSpPr>
          <p:cNvPr id="24" name="Text 22"/>
          <p:cNvSpPr/>
          <p:nvPr/>
        </p:nvSpPr>
        <p:spPr>
          <a:xfrm>
            <a:off x="8559641" y="5082222"/>
            <a:ext cx="1615805" cy="317976"/>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6B6866"/>
                </a:solidFill>
                <a:latin typeface="Segoe UI" pitchFamily="34" charset="0"/>
                <a:ea typeface="Segoe UI" pitchFamily="34" charset="-122"/>
                <a:cs typeface="Segoe UI" pitchFamily="34" charset="-120"/>
              </a:rPr>
              <a:t>Jul 27</a:t>
            </a:r>
            <a:endParaRPr lang="en-US" sz="1650" dirty="0"/>
          </a:p>
        </p:txBody>
      </p:sp>
      <p:sp>
        <p:nvSpPr>
          <p:cNvPr id="25" name="Text 23"/>
          <p:cNvSpPr/>
          <p:nvPr/>
        </p:nvSpPr>
        <p:spPr>
          <a:xfrm>
            <a:off x="10028555" y="5082222"/>
            <a:ext cx="1615805" cy="317976"/>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6B6866"/>
                </a:solidFill>
                <a:latin typeface="Segoe UI" pitchFamily="34" charset="0"/>
                <a:ea typeface="Segoe UI" pitchFamily="34" charset="-122"/>
                <a:cs typeface="Segoe UI" pitchFamily="34" charset="-120"/>
              </a:rPr>
              <a:t>Oct 27</a:t>
            </a:r>
            <a:endParaRPr lang="en-US" sz="1650" dirty="0"/>
          </a:p>
        </p:txBody>
      </p:sp>
      <p:sp>
        <p:nvSpPr>
          <p:cNvPr id="26" name="Text 24"/>
          <p:cNvSpPr/>
          <p:nvPr/>
        </p:nvSpPr>
        <p:spPr>
          <a:xfrm>
            <a:off x="11497469" y="5082222"/>
            <a:ext cx="1615805" cy="317976"/>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6B6866"/>
                </a:solidFill>
                <a:latin typeface="Segoe UI" pitchFamily="34" charset="0"/>
                <a:ea typeface="Segoe UI" pitchFamily="34" charset="-122"/>
                <a:cs typeface="Segoe UI" pitchFamily="34" charset="-120"/>
              </a:rPr>
              <a:t>Jan 28</a:t>
            </a:r>
            <a:endParaRPr lang="en-US" sz="1650" dirty="0"/>
          </a:p>
        </p:txBody>
      </p:sp>
      <p:sp>
        <p:nvSpPr>
          <p:cNvPr id="27" name="Text 25"/>
          <p:cNvSpPr/>
          <p:nvPr/>
        </p:nvSpPr>
        <p:spPr>
          <a:xfrm>
            <a:off x="12966383" y="5082222"/>
            <a:ext cx="1615805" cy="317976"/>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6B6866"/>
                </a:solidFill>
                <a:latin typeface="Segoe UI" pitchFamily="34" charset="0"/>
                <a:ea typeface="Segoe UI" pitchFamily="34" charset="-122"/>
                <a:cs typeface="Segoe UI" pitchFamily="34" charset="-120"/>
              </a:rPr>
              <a:t>Apr 28</a:t>
            </a:r>
            <a:endParaRPr lang="en-US" sz="1650" dirty="0"/>
          </a:p>
        </p:txBody>
      </p:sp>
      <p:sp>
        <p:nvSpPr>
          <p:cNvPr id="28" name="Text 26"/>
          <p:cNvSpPr/>
          <p:nvPr/>
        </p:nvSpPr>
        <p:spPr>
          <a:xfrm>
            <a:off x="14435296" y="5082222"/>
            <a:ext cx="1615805" cy="317976"/>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6B6866"/>
                </a:solidFill>
                <a:latin typeface="Segoe UI" pitchFamily="34" charset="0"/>
                <a:ea typeface="Segoe UI" pitchFamily="34" charset="-122"/>
                <a:cs typeface="Segoe UI" pitchFamily="34" charset="-120"/>
              </a:rPr>
              <a:t>Jul 28</a:t>
            </a:r>
            <a:endParaRPr lang="en-US" sz="1650" dirty="0"/>
          </a:p>
        </p:txBody>
      </p:sp>
      <p:sp>
        <p:nvSpPr>
          <p:cNvPr id="29" name="Text 27"/>
          <p:cNvSpPr/>
          <p:nvPr/>
        </p:nvSpPr>
        <p:spPr>
          <a:xfrm>
            <a:off x="15904211" y="5082222"/>
            <a:ext cx="1615805" cy="317976"/>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6B6866"/>
                </a:solidFill>
                <a:latin typeface="Segoe UI" pitchFamily="34" charset="0"/>
                <a:ea typeface="Segoe UI" pitchFamily="34" charset="-122"/>
                <a:cs typeface="Segoe UI" pitchFamily="34" charset="-120"/>
              </a:rPr>
              <a:t>Oct 28</a:t>
            </a:r>
            <a:endParaRPr lang="en-US" sz="1650" dirty="0"/>
          </a:p>
        </p:txBody>
      </p:sp>
      <p:sp>
        <p:nvSpPr>
          <p:cNvPr id="30" name="Text 28"/>
          <p:cNvSpPr/>
          <p:nvPr/>
        </p:nvSpPr>
        <p:spPr>
          <a:xfrm>
            <a:off x="914400" y="5730875"/>
            <a:ext cx="3143250" cy="420370"/>
          </a:xfrm>
          <a:prstGeom prst="rect">
            <a:avLst/>
          </a:prstGeom>
          <a:noFill/>
          <a:ln/>
        </p:spPr>
        <p:txBody>
          <a:bodyPr wrap="square" lIns="25400" tIns="25400" rIns="25400" bIns="25400" rtlCol="0" anchor="t">
            <a:normAutofit/>
          </a:bodyPr>
          <a:lstStyle/>
          <a:p>
            <a:pPr algn="l" indent="0" marL="0">
              <a:buNone/>
            </a:pPr>
            <a:r>
              <a:rPr lang="en-US" sz="2250" b="1" dirty="0">
                <a:solidFill>
                  <a:srgbClr val="003B71"/>
                </a:solidFill>
                <a:latin typeface="Segoe UI" pitchFamily="34" charset="0"/>
                <a:ea typeface="Segoe UI" pitchFamily="34" charset="-122"/>
                <a:cs typeface="Segoe UI" pitchFamily="34" charset="-120"/>
              </a:rPr>
              <a:t>Best case</a:t>
            </a:r>
            <a:endParaRPr lang="en-US" sz="2250" dirty="0"/>
          </a:p>
        </p:txBody>
      </p:sp>
      <p:sp>
        <p:nvSpPr>
          <p:cNvPr id="31" name="Text 29"/>
          <p:cNvSpPr/>
          <p:nvPr/>
        </p:nvSpPr>
        <p:spPr>
          <a:xfrm>
            <a:off x="914400" y="6151245"/>
            <a:ext cx="3143250" cy="338455"/>
          </a:xfrm>
          <a:prstGeom prst="rect">
            <a:avLst/>
          </a:prstGeom>
          <a:noFill/>
          <a:ln/>
        </p:spPr>
        <p:txBody>
          <a:bodyPr wrap="square" lIns="25400" tIns="25400" rIns="25400" bIns="25400" rtlCol="0" anchor="t">
            <a:normAutofit/>
          </a:bodyPr>
          <a:lstStyle/>
          <a:p>
            <a:pPr algn="l" indent="0" marL="0">
              <a:buNone/>
            </a:pPr>
            <a:r>
              <a:rPr lang="en-US" sz="1800" dirty="0">
                <a:solidFill>
                  <a:srgbClr val="6B6866"/>
                </a:solidFill>
                <a:latin typeface="Segoe UI" pitchFamily="34" charset="0"/>
                <a:ea typeface="Segoe UI" pitchFamily="34" charset="-122"/>
                <a:cs typeface="Segoe UI" pitchFamily="34" charset="-120"/>
              </a:rPr>
              <a:t>2 days per script</a:t>
            </a:r>
            <a:endParaRPr lang="en-US" sz="1800" dirty="0"/>
          </a:p>
        </p:txBody>
      </p:sp>
      <p:sp>
        <p:nvSpPr>
          <p:cNvPr id="32" name="Shape 30"/>
          <p:cNvSpPr/>
          <p:nvPr/>
        </p:nvSpPr>
        <p:spPr>
          <a:xfrm>
            <a:off x="4152900" y="5786438"/>
            <a:ext cx="13220700" cy="609600"/>
          </a:xfrm>
          <a:prstGeom prst="rect">
            <a:avLst/>
          </a:prstGeom>
          <a:solidFill>
            <a:srgbClr val="EEECEC"/>
          </a:solidFill>
          <a:ln/>
        </p:spPr>
      </p:sp>
      <p:sp>
        <p:nvSpPr>
          <p:cNvPr id="33" name="Shape 31"/>
          <p:cNvSpPr/>
          <p:nvPr/>
        </p:nvSpPr>
        <p:spPr>
          <a:xfrm>
            <a:off x="4152900" y="5786438"/>
            <a:ext cx="2326799" cy="609600"/>
          </a:xfrm>
          <a:prstGeom prst="rect">
            <a:avLst/>
          </a:prstGeom>
          <a:solidFill>
            <a:srgbClr val="40C1AC"/>
          </a:solidFill>
          <a:ln/>
        </p:spPr>
      </p:sp>
      <p:sp>
        <p:nvSpPr>
          <p:cNvPr id="34" name="Text 32"/>
          <p:cNvSpPr/>
          <p:nvPr/>
        </p:nvSpPr>
        <p:spPr>
          <a:xfrm>
            <a:off x="6670199" y="5927407"/>
            <a:ext cx="2510060" cy="365760"/>
          </a:xfrm>
          <a:prstGeom prst="rect">
            <a:avLst/>
          </a:prstGeom>
          <a:noFill/>
          <a:ln/>
        </p:spPr>
        <p:txBody>
          <a:bodyPr wrap="none" lIns="25400" tIns="25400" rIns="25400" bIns="25400" rtlCol="0" anchor="t">
            <a:normAutofit/>
          </a:bodyPr>
          <a:lstStyle/>
          <a:p>
            <a:pPr algn="l" indent="0" marL="0">
              <a:buNone/>
            </a:pPr>
            <a:r>
              <a:rPr lang="en-US" sz="1950" b="1" dirty="0">
                <a:solidFill>
                  <a:srgbClr val="003B71"/>
                </a:solidFill>
                <a:latin typeface="Segoe UI" pitchFamily="34" charset="0"/>
                <a:ea typeface="Segoe UI" pitchFamily="34" charset="-122"/>
                <a:cs typeface="Segoe UI" pitchFamily="34" charset="-120"/>
              </a:rPr>
              <a:t>Feb 2027 · 100 days</a:t>
            </a:r>
            <a:endParaRPr lang="en-US" sz="1950" dirty="0"/>
          </a:p>
        </p:txBody>
      </p:sp>
      <p:sp>
        <p:nvSpPr>
          <p:cNvPr id="35" name="Shape 33"/>
          <p:cNvSpPr/>
          <p:nvPr/>
        </p:nvSpPr>
        <p:spPr>
          <a:xfrm>
            <a:off x="11490325" y="5653088"/>
            <a:ext cx="28575" cy="876300"/>
          </a:xfrm>
          <a:prstGeom prst="rect">
            <a:avLst/>
          </a:prstGeom>
          <a:solidFill>
            <a:srgbClr val="EC3013"/>
          </a:solidFill>
          <a:ln/>
        </p:spPr>
      </p:sp>
      <p:sp>
        <p:nvSpPr>
          <p:cNvPr id="36" name="Text 34"/>
          <p:cNvSpPr/>
          <p:nvPr/>
        </p:nvSpPr>
        <p:spPr>
          <a:xfrm>
            <a:off x="914400" y="6718300"/>
            <a:ext cx="3143250" cy="420370"/>
          </a:xfrm>
          <a:prstGeom prst="rect">
            <a:avLst/>
          </a:prstGeom>
          <a:noFill/>
          <a:ln/>
        </p:spPr>
        <p:txBody>
          <a:bodyPr wrap="square" lIns="25400" tIns="25400" rIns="25400" bIns="25400" rtlCol="0" anchor="t">
            <a:normAutofit/>
          </a:bodyPr>
          <a:lstStyle/>
          <a:p>
            <a:pPr algn="l" indent="0" marL="0">
              <a:buNone/>
            </a:pPr>
            <a:r>
              <a:rPr lang="en-US" sz="2250" b="1" dirty="0">
                <a:solidFill>
                  <a:srgbClr val="003B71"/>
                </a:solidFill>
                <a:latin typeface="Segoe UI" pitchFamily="34" charset="0"/>
                <a:ea typeface="Segoe UI" pitchFamily="34" charset="-122"/>
                <a:cs typeface="Segoe UI" pitchFamily="34" charset="-120"/>
              </a:rPr>
              <a:t>Base case</a:t>
            </a:r>
            <a:endParaRPr lang="en-US" sz="2250" dirty="0"/>
          </a:p>
        </p:txBody>
      </p:sp>
      <p:sp>
        <p:nvSpPr>
          <p:cNvPr id="37" name="Text 35"/>
          <p:cNvSpPr/>
          <p:nvPr/>
        </p:nvSpPr>
        <p:spPr>
          <a:xfrm>
            <a:off x="914400" y="7138670"/>
            <a:ext cx="3143250" cy="338455"/>
          </a:xfrm>
          <a:prstGeom prst="rect">
            <a:avLst/>
          </a:prstGeom>
          <a:noFill/>
          <a:ln/>
        </p:spPr>
        <p:txBody>
          <a:bodyPr wrap="square" lIns="25400" tIns="25400" rIns="25400" bIns="25400" rtlCol="0" anchor="t">
            <a:normAutofit/>
          </a:bodyPr>
          <a:lstStyle/>
          <a:p>
            <a:pPr algn="l" indent="0" marL="0">
              <a:buNone/>
            </a:pPr>
            <a:r>
              <a:rPr lang="en-US" sz="1800" dirty="0">
                <a:solidFill>
                  <a:srgbClr val="6B6866"/>
                </a:solidFill>
                <a:latin typeface="Segoe UI" pitchFamily="34" charset="0"/>
                <a:ea typeface="Segoe UI" pitchFamily="34" charset="-122"/>
                <a:cs typeface="Segoe UI" pitchFamily="34" charset="-120"/>
              </a:rPr>
              <a:t>6 days per script</a:t>
            </a:r>
            <a:endParaRPr lang="en-US" sz="1800" dirty="0"/>
          </a:p>
        </p:txBody>
      </p:sp>
      <p:sp>
        <p:nvSpPr>
          <p:cNvPr id="38" name="Shape 36"/>
          <p:cNvSpPr/>
          <p:nvPr/>
        </p:nvSpPr>
        <p:spPr>
          <a:xfrm>
            <a:off x="4152900" y="6773863"/>
            <a:ext cx="13220700" cy="609600"/>
          </a:xfrm>
          <a:prstGeom prst="rect">
            <a:avLst/>
          </a:prstGeom>
          <a:solidFill>
            <a:srgbClr val="EEECEC"/>
          </a:solidFill>
          <a:ln/>
        </p:spPr>
      </p:sp>
      <p:sp>
        <p:nvSpPr>
          <p:cNvPr id="39" name="Shape 37"/>
          <p:cNvSpPr/>
          <p:nvPr/>
        </p:nvSpPr>
        <p:spPr>
          <a:xfrm>
            <a:off x="4152900" y="6773863"/>
            <a:ext cx="7006907" cy="609600"/>
          </a:xfrm>
          <a:prstGeom prst="rect">
            <a:avLst/>
          </a:prstGeom>
          <a:solidFill>
            <a:srgbClr val="003B71"/>
          </a:solidFill>
          <a:ln/>
        </p:spPr>
      </p:sp>
      <p:sp>
        <p:nvSpPr>
          <p:cNvPr id="40" name="Text 38"/>
          <p:cNvSpPr/>
          <p:nvPr/>
        </p:nvSpPr>
        <p:spPr>
          <a:xfrm>
            <a:off x="4381500" y="6914833"/>
            <a:ext cx="2554049" cy="36576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Segoe UI" pitchFamily="34" charset="0"/>
                <a:ea typeface="Segoe UI" pitchFamily="34" charset="-122"/>
                <a:cs typeface="Segoe UI" pitchFamily="34" charset="-120"/>
              </a:rPr>
              <a:t>Dec 2027 · 300 days</a:t>
            </a:r>
            <a:endParaRPr lang="en-US" sz="1950" dirty="0"/>
          </a:p>
        </p:txBody>
      </p:sp>
      <p:sp>
        <p:nvSpPr>
          <p:cNvPr id="41" name="Shape 39"/>
          <p:cNvSpPr/>
          <p:nvPr/>
        </p:nvSpPr>
        <p:spPr>
          <a:xfrm>
            <a:off x="11490325" y="6640513"/>
            <a:ext cx="28575" cy="876300"/>
          </a:xfrm>
          <a:prstGeom prst="rect">
            <a:avLst/>
          </a:prstGeom>
          <a:solidFill>
            <a:srgbClr val="EC3013"/>
          </a:solidFill>
          <a:ln/>
        </p:spPr>
      </p:sp>
      <p:sp>
        <p:nvSpPr>
          <p:cNvPr id="42" name="Text 40"/>
          <p:cNvSpPr/>
          <p:nvPr/>
        </p:nvSpPr>
        <p:spPr>
          <a:xfrm>
            <a:off x="914400" y="7705725"/>
            <a:ext cx="3143250" cy="420370"/>
          </a:xfrm>
          <a:prstGeom prst="rect">
            <a:avLst/>
          </a:prstGeom>
          <a:noFill/>
          <a:ln/>
        </p:spPr>
        <p:txBody>
          <a:bodyPr wrap="square" lIns="25400" tIns="25400" rIns="25400" bIns="25400" rtlCol="0" anchor="t">
            <a:normAutofit/>
          </a:bodyPr>
          <a:lstStyle/>
          <a:p>
            <a:pPr algn="l" indent="0" marL="0">
              <a:buNone/>
            </a:pPr>
            <a:r>
              <a:rPr lang="en-US" sz="2250" b="1" dirty="0">
                <a:solidFill>
                  <a:srgbClr val="003B71"/>
                </a:solidFill>
                <a:latin typeface="Segoe UI" pitchFamily="34" charset="0"/>
                <a:ea typeface="Segoe UI" pitchFamily="34" charset="-122"/>
                <a:cs typeface="Segoe UI" pitchFamily="34" charset="-120"/>
              </a:rPr>
              <a:t>Worst case</a:t>
            </a:r>
            <a:endParaRPr lang="en-US" sz="2250" dirty="0"/>
          </a:p>
        </p:txBody>
      </p:sp>
      <p:sp>
        <p:nvSpPr>
          <p:cNvPr id="43" name="Text 41"/>
          <p:cNvSpPr/>
          <p:nvPr/>
        </p:nvSpPr>
        <p:spPr>
          <a:xfrm>
            <a:off x="914400" y="8126095"/>
            <a:ext cx="3143250" cy="338455"/>
          </a:xfrm>
          <a:prstGeom prst="rect">
            <a:avLst/>
          </a:prstGeom>
          <a:noFill/>
          <a:ln/>
        </p:spPr>
        <p:txBody>
          <a:bodyPr wrap="square" lIns="25400" tIns="25400" rIns="25400" bIns="25400" rtlCol="0" anchor="t">
            <a:normAutofit/>
          </a:bodyPr>
          <a:lstStyle/>
          <a:p>
            <a:pPr algn="l" indent="0" marL="0">
              <a:buNone/>
            </a:pPr>
            <a:r>
              <a:rPr lang="en-US" sz="1800" dirty="0">
                <a:solidFill>
                  <a:srgbClr val="6B6866"/>
                </a:solidFill>
                <a:latin typeface="Segoe UI" pitchFamily="34" charset="0"/>
                <a:ea typeface="Segoe UI" pitchFamily="34" charset="-122"/>
                <a:cs typeface="Segoe UI" pitchFamily="34" charset="-120"/>
              </a:rPr>
              <a:t>10 days per script</a:t>
            </a:r>
            <a:endParaRPr lang="en-US" sz="1800" dirty="0"/>
          </a:p>
        </p:txBody>
      </p:sp>
      <p:sp>
        <p:nvSpPr>
          <p:cNvPr id="44" name="Shape 42"/>
          <p:cNvSpPr/>
          <p:nvPr/>
        </p:nvSpPr>
        <p:spPr>
          <a:xfrm>
            <a:off x="4152900" y="7761287"/>
            <a:ext cx="13220700" cy="609600"/>
          </a:xfrm>
          <a:prstGeom prst="rect">
            <a:avLst/>
          </a:prstGeom>
          <a:solidFill>
            <a:srgbClr val="EEECEC"/>
          </a:solidFill>
          <a:ln/>
        </p:spPr>
      </p:sp>
      <p:sp>
        <p:nvSpPr>
          <p:cNvPr id="45" name="Shape 43"/>
          <p:cNvSpPr/>
          <p:nvPr/>
        </p:nvSpPr>
        <p:spPr>
          <a:xfrm>
            <a:off x="4152900" y="7761287"/>
            <a:ext cx="11634153" cy="609600"/>
          </a:xfrm>
          <a:prstGeom prst="rect">
            <a:avLst/>
          </a:prstGeom>
          <a:solidFill>
            <a:srgbClr val="0078B3"/>
          </a:solidFill>
          <a:ln/>
        </p:spPr>
      </p:sp>
      <p:sp>
        <p:nvSpPr>
          <p:cNvPr id="46" name="Text 44"/>
          <p:cNvSpPr/>
          <p:nvPr/>
        </p:nvSpPr>
        <p:spPr>
          <a:xfrm>
            <a:off x="4381500" y="7902257"/>
            <a:ext cx="2543921" cy="36576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Segoe UI" pitchFamily="34" charset="0"/>
                <a:ea typeface="Segoe UI" pitchFamily="34" charset="-122"/>
                <a:cs typeface="Segoe UI" pitchFamily="34" charset="-120"/>
              </a:rPr>
              <a:t>Sep 2028 · 500 days</a:t>
            </a:r>
            <a:endParaRPr lang="en-US" sz="1950" dirty="0"/>
          </a:p>
        </p:txBody>
      </p:sp>
      <p:sp>
        <p:nvSpPr>
          <p:cNvPr id="47" name="Shape 45"/>
          <p:cNvSpPr/>
          <p:nvPr/>
        </p:nvSpPr>
        <p:spPr>
          <a:xfrm>
            <a:off x="11490325" y="7627937"/>
            <a:ext cx="28575" cy="876300"/>
          </a:xfrm>
          <a:prstGeom prst="rect">
            <a:avLst/>
          </a:prstGeom>
          <a:solidFill>
            <a:srgbClr val="EC3013"/>
          </a:solidFill>
          <a:ln/>
        </p:spPr>
      </p:sp>
      <p:sp>
        <p:nvSpPr>
          <p:cNvPr id="48" name="Shape 46"/>
          <p:cNvSpPr/>
          <p:nvPr/>
        </p:nvSpPr>
        <p:spPr>
          <a:xfrm>
            <a:off x="914400" y="8674100"/>
            <a:ext cx="16459200" cy="13652"/>
          </a:xfrm>
          <a:prstGeom prst="rect">
            <a:avLst/>
          </a:prstGeom>
          <a:solidFill>
            <a:srgbClr val="003B71"/>
          </a:solidFill>
          <a:ln/>
        </p:spPr>
      </p:sp>
      <p:sp>
        <p:nvSpPr>
          <p:cNvPr id="49" name="Shape 47"/>
          <p:cNvSpPr/>
          <p:nvPr/>
        </p:nvSpPr>
        <p:spPr>
          <a:xfrm>
            <a:off x="914400" y="9275445"/>
            <a:ext cx="266700" cy="28575"/>
          </a:xfrm>
          <a:prstGeom prst="rect">
            <a:avLst/>
          </a:prstGeom>
          <a:solidFill>
            <a:srgbClr val="EC3013"/>
          </a:solidFill>
          <a:ln/>
        </p:spPr>
      </p:sp>
      <p:sp>
        <p:nvSpPr>
          <p:cNvPr id="50" name="Text 48"/>
          <p:cNvSpPr/>
          <p:nvPr/>
        </p:nvSpPr>
        <p:spPr>
          <a:xfrm>
            <a:off x="1314450" y="9139555"/>
            <a:ext cx="2610469" cy="338455"/>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078B3"/>
                </a:solidFill>
                <a:latin typeface="Segoe UI" pitchFamily="34" charset="0"/>
                <a:ea typeface="Segoe UI" pitchFamily="34" charset="-122"/>
                <a:cs typeface="Segoe UI" pitchFamily="34" charset="-120"/>
              </a:rPr>
              <a:t>Q4 2027 DEADLINE</a:t>
            </a:r>
            <a:endParaRPr lang="en-US" sz="1800" dirty="0"/>
          </a:p>
        </p:txBody>
      </p:sp>
      <p:sp>
        <p:nvSpPr>
          <p:cNvPr id="51" name="Text 49"/>
          <p:cNvSpPr/>
          <p:nvPr/>
        </p:nvSpPr>
        <p:spPr>
          <a:xfrm>
            <a:off x="4152900" y="8916352"/>
            <a:ext cx="13617321" cy="784860"/>
          </a:xfrm>
          <a:prstGeom prst="rect">
            <a:avLst/>
          </a:prstGeom>
          <a:noFill/>
          <a:ln/>
        </p:spPr>
        <p:txBody>
          <a:bodyPr wrap="square" lIns="25400" tIns="25400" rIns="25400" bIns="25400" rtlCol="0" anchor="t">
            <a:normAutofit/>
          </a:bodyPr>
          <a:lstStyle/>
          <a:p>
            <a:pPr algn="l" indent="0" marL="0">
              <a:lnSpc>
                <a:spcPct val="105188"/>
              </a:lnSpc>
              <a:buNone/>
            </a:pPr>
            <a:r>
              <a:rPr lang="en-US" sz="2100" dirty="0">
                <a:solidFill>
                  <a:srgbClr val="4A4746"/>
                </a:solidFill>
                <a:latin typeface="Segoe UI" pitchFamily="34" charset="0"/>
                <a:ea typeface="Segoe UI" pitchFamily="34" charset="-122"/>
                <a:cs typeface="Segoe UI" pitchFamily="34" charset="-120"/>
              </a:rPr>
              <a:t>Only the best case clears it. The base case lands roughly two months late — a second developer, or retiring low-priority assets to free capacity, closes the gap.</a:t>
            </a:r>
            <a:endParaRPr lang="en-US" sz="2100" dirty="0"/>
          </a:p>
        </p:txBody>
      </p:sp>
      <p:sp>
        <p:nvSpPr>
          <p:cNvPr id="52" name="Shape 50"/>
          <p:cNvSpPr/>
          <p:nvPr/>
        </p:nvSpPr>
        <p:spPr>
          <a:xfrm>
            <a:off x="914400" y="9663113"/>
            <a:ext cx="16459200" cy="13652"/>
          </a:xfrm>
          <a:prstGeom prst="rect">
            <a:avLst/>
          </a:prstGeom>
          <a:solidFill>
            <a:srgbClr val="003B71"/>
          </a:solidFill>
          <a:ln/>
        </p:spPr>
      </p:sp>
      <p:sp>
        <p:nvSpPr>
          <p:cNvPr id="53" name="Text 51"/>
          <p:cNvSpPr/>
          <p:nvPr/>
        </p:nvSpPr>
        <p:spPr>
          <a:xfrm>
            <a:off x="914400" y="9867265"/>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54" name="Text 52"/>
          <p:cNvSpPr/>
          <p:nvPr/>
        </p:nvSpPr>
        <p:spPr>
          <a:xfrm>
            <a:off x="17122457" y="9867265"/>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10</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2472055"/>
            <a:ext cx="16459200" cy="13652"/>
          </a:xfrm>
          <a:prstGeom prst="rect">
            <a:avLst/>
          </a:prstGeom>
          <a:solidFill>
            <a:srgbClr val="003B71"/>
          </a:solidFill>
          <a:ln/>
        </p:spPr>
      </p:sp>
      <p:sp>
        <p:nvSpPr>
          <p:cNvPr id="3" name="Text 1"/>
          <p:cNvSpPr/>
          <p:nvPr/>
        </p:nvSpPr>
        <p:spPr>
          <a:xfrm>
            <a:off x="914400" y="838200"/>
            <a:ext cx="18105120"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0078B3"/>
                </a:solidFill>
                <a:latin typeface="Segoe UI" pitchFamily="34" charset="0"/>
                <a:ea typeface="Segoe UI" pitchFamily="34" charset="-122"/>
                <a:cs typeface="Segoe UI" pitchFamily="34" charset="-120"/>
              </a:rPr>
              <a:t>APPENDIX E — INVENTORY</a:t>
            </a:r>
            <a:endParaRPr lang="en-US" sz="1800" dirty="0"/>
          </a:p>
        </p:txBody>
      </p:sp>
      <p:sp>
        <p:nvSpPr>
          <p:cNvPr id="4" name="Text 2"/>
          <p:cNvSpPr/>
          <p:nvPr/>
        </p:nvSpPr>
        <p:spPr>
          <a:xfrm>
            <a:off x="914400" y="1329055"/>
            <a:ext cx="18105120"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003B71"/>
                </a:solidFill>
                <a:latin typeface="Segoe UI" pitchFamily="34" charset="0"/>
                <a:ea typeface="Segoe UI" pitchFamily="34" charset="-122"/>
                <a:cs typeface="Segoe UI" pitchFamily="34" charset="-120"/>
              </a:rPr>
              <a:t>Script Breakdown by Priority</a:t>
            </a:r>
            <a:endParaRPr lang="en-US" sz="6300" dirty="0"/>
          </a:p>
        </p:txBody>
      </p:sp>
      <p:sp>
        <p:nvSpPr>
          <p:cNvPr id="5" name="Shape 3"/>
          <p:cNvSpPr/>
          <p:nvPr/>
        </p:nvSpPr>
        <p:spPr>
          <a:xfrm>
            <a:off x="914400" y="3019108"/>
            <a:ext cx="16459200" cy="3263900"/>
          </a:xfrm>
          <a:prstGeom prst="rect">
            <a:avLst/>
          </a:prstGeom>
          <a:solidFill>
            <a:srgbClr val="003B71"/>
          </a:solidFill>
          <a:ln/>
        </p:spPr>
      </p:sp>
      <p:sp>
        <p:nvSpPr>
          <p:cNvPr id="6" name="Shape 4"/>
          <p:cNvSpPr/>
          <p:nvPr/>
        </p:nvSpPr>
        <p:spPr>
          <a:xfrm>
            <a:off x="914400" y="3019108"/>
            <a:ext cx="5473700" cy="3263900"/>
          </a:xfrm>
          <a:prstGeom prst="rect">
            <a:avLst/>
          </a:prstGeom>
          <a:solidFill>
            <a:srgbClr val="FFFFFF"/>
          </a:solidFill>
          <a:ln/>
        </p:spPr>
      </p:sp>
      <p:sp>
        <p:nvSpPr>
          <p:cNvPr id="7" name="Text 5"/>
          <p:cNvSpPr/>
          <p:nvPr/>
        </p:nvSpPr>
        <p:spPr>
          <a:xfrm>
            <a:off x="1333500" y="3514408"/>
            <a:ext cx="5099050" cy="365760"/>
          </a:xfrm>
          <a:prstGeom prst="rect">
            <a:avLst/>
          </a:prstGeom>
          <a:noFill/>
          <a:ln/>
        </p:spPr>
        <p:txBody>
          <a:bodyPr wrap="square" lIns="25400" tIns="25400" rIns="25400" bIns="25400" rtlCol="0" anchor="t">
            <a:normAutofit/>
          </a:bodyPr>
          <a:lstStyle/>
          <a:p>
            <a:pPr algn="l" indent="0" marL="0">
              <a:buNone/>
            </a:pPr>
            <a:r>
              <a:rPr lang="en-US" sz="1950" b="1" spc="312" kern="0" dirty="0">
                <a:solidFill>
                  <a:srgbClr val="0078B3"/>
                </a:solidFill>
                <a:latin typeface="Segoe UI" pitchFamily="34" charset="0"/>
                <a:ea typeface="Segoe UI" pitchFamily="34" charset="-122"/>
                <a:cs typeface="Segoe UI" pitchFamily="34" charset="-120"/>
              </a:rPr>
              <a:t>HIGH</a:t>
            </a:r>
            <a:endParaRPr lang="en-US" sz="1950" dirty="0"/>
          </a:p>
        </p:txBody>
      </p:sp>
      <p:sp>
        <p:nvSpPr>
          <p:cNvPr id="8" name="Text 6"/>
          <p:cNvSpPr/>
          <p:nvPr/>
        </p:nvSpPr>
        <p:spPr>
          <a:xfrm>
            <a:off x="1333500" y="3994468"/>
            <a:ext cx="5099050" cy="1323975"/>
          </a:xfrm>
          <a:prstGeom prst="rect">
            <a:avLst/>
          </a:prstGeom>
          <a:noFill/>
          <a:ln/>
        </p:spPr>
        <p:txBody>
          <a:bodyPr wrap="square" lIns="25400" tIns="25400" rIns="25400" bIns="25400" rtlCol="0" anchor="t">
            <a:normAutofit/>
          </a:bodyPr>
          <a:lstStyle/>
          <a:p>
            <a:pPr algn="l" indent="0" marL="0">
              <a:lnSpc>
                <a:spcPct val="67517"/>
              </a:lnSpc>
              <a:buNone/>
            </a:pPr>
            <a:r>
              <a:rPr lang="en-US" sz="11250" b="1" spc="-450" kern="0" dirty="0">
                <a:solidFill>
                  <a:srgbClr val="003B71"/>
                </a:solidFill>
                <a:latin typeface="Segoe UI" pitchFamily="34" charset="0"/>
                <a:ea typeface="Segoe UI" pitchFamily="34" charset="-122"/>
                <a:cs typeface="Segoe UI" pitchFamily="34" charset="-120"/>
              </a:rPr>
              <a:t>50</a:t>
            </a:r>
            <a:endParaRPr lang="en-US" sz="11250" dirty="0"/>
          </a:p>
        </p:txBody>
      </p:sp>
      <p:sp>
        <p:nvSpPr>
          <p:cNvPr id="9" name="Text 7"/>
          <p:cNvSpPr/>
          <p:nvPr/>
        </p:nvSpPr>
        <p:spPr>
          <a:xfrm>
            <a:off x="1333500" y="5432743"/>
            <a:ext cx="5099050" cy="393065"/>
          </a:xfrm>
          <a:prstGeom prst="rect">
            <a:avLst/>
          </a:prstGeom>
          <a:noFill/>
          <a:ln/>
        </p:spPr>
        <p:txBody>
          <a:bodyPr wrap="square" lIns="25400" tIns="25400" rIns="25400" bIns="25400" rtlCol="0" anchor="t">
            <a:normAutofit/>
          </a:bodyPr>
          <a:lstStyle/>
          <a:p>
            <a:pPr algn="l" indent="0" marL="0">
              <a:buNone/>
            </a:pPr>
            <a:r>
              <a:rPr lang="en-US" sz="2100" dirty="0">
                <a:solidFill>
                  <a:srgbClr val="6B6866"/>
                </a:solidFill>
                <a:latin typeface="Segoe UI" pitchFamily="34" charset="0"/>
                <a:ea typeface="Segoe UI" pitchFamily="34" charset="-122"/>
                <a:cs typeface="Segoe UI" pitchFamily="34" charset="-120"/>
              </a:rPr>
              <a:t>27% of portfolio</a:t>
            </a:r>
            <a:endParaRPr lang="en-US" sz="2100" dirty="0"/>
          </a:p>
        </p:txBody>
      </p:sp>
      <p:sp>
        <p:nvSpPr>
          <p:cNvPr id="10" name="Shape 8"/>
          <p:cNvSpPr/>
          <p:nvPr/>
        </p:nvSpPr>
        <p:spPr>
          <a:xfrm>
            <a:off x="6407150" y="3019108"/>
            <a:ext cx="5473700" cy="3263900"/>
          </a:xfrm>
          <a:prstGeom prst="rect">
            <a:avLst/>
          </a:prstGeom>
          <a:solidFill>
            <a:srgbClr val="FFFFFF"/>
          </a:solidFill>
          <a:ln/>
        </p:spPr>
      </p:sp>
      <p:sp>
        <p:nvSpPr>
          <p:cNvPr id="11" name="Text 9"/>
          <p:cNvSpPr/>
          <p:nvPr/>
        </p:nvSpPr>
        <p:spPr>
          <a:xfrm>
            <a:off x="6826250" y="3514408"/>
            <a:ext cx="5099050" cy="365760"/>
          </a:xfrm>
          <a:prstGeom prst="rect">
            <a:avLst/>
          </a:prstGeom>
          <a:noFill/>
          <a:ln/>
        </p:spPr>
        <p:txBody>
          <a:bodyPr wrap="square" lIns="25400" tIns="25400" rIns="25400" bIns="25400" rtlCol="0" anchor="t">
            <a:normAutofit/>
          </a:bodyPr>
          <a:lstStyle/>
          <a:p>
            <a:pPr algn="l" indent="0" marL="0">
              <a:buNone/>
            </a:pPr>
            <a:r>
              <a:rPr lang="en-US" sz="1950" b="1" spc="312" kern="0" dirty="0">
                <a:solidFill>
                  <a:srgbClr val="0078B3"/>
                </a:solidFill>
                <a:latin typeface="Segoe UI" pitchFamily="34" charset="0"/>
                <a:ea typeface="Segoe UI" pitchFamily="34" charset="-122"/>
                <a:cs typeface="Segoe UI" pitchFamily="34" charset="-120"/>
              </a:rPr>
              <a:t>MEDIUM</a:t>
            </a:r>
            <a:endParaRPr lang="en-US" sz="1950" dirty="0"/>
          </a:p>
        </p:txBody>
      </p:sp>
      <p:sp>
        <p:nvSpPr>
          <p:cNvPr id="12" name="Text 10"/>
          <p:cNvSpPr/>
          <p:nvPr/>
        </p:nvSpPr>
        <p:spPr>
          <a:xfrm>
            <a:off x="6826250" y="3994468"/>
            <a:ext cx="5099050" cy="1323975"/>
          </a:xfrm>
          <a:prstGeom prst="rect">
            <a:avLst/>
          </a:prstGeom>
          <a:noFill/>
          <a:ln/>
        </p:spPr>
        <p:txBody>
          <a:bodyPr wrap="square" lIns="25400" tIns="25400" rIns="25400" bIns="25400" rtlCol="0" anchor="t">
            <a:normAutofit/>
          </a:bodyPr>
          <a:lstStyle/>
          <a:p>
            <a:pPr algn="l" indent="0" marL="0">
              <a:lnSpc>
                <a:spcPct val="67517"/>
              </a:lnSpc>
              <a:buNone/>
            </a:pPr>
            <a:r>
              <a:rPr lang="en-US" sz="11250" b="1" spc="-450" kern="0" dirty="0">
                <a:solidFill>
                  <a:srgbClr val="003B71"/>
                </a:solidFill>
                <a:latin typeface="Segoe UI" pitchFamily="34" charset="0"/>
                <a:ea typeface="Segoe UI" pitchFamily="34" charset="-122"/>
                <a:cs typeface="Segoe UI" pitchFamily="34" charset="-120"/>
              </a:rPr>
              <a:t>69</a:t>
            </a:r>
            <a:endParaRPr lang="en-US" sz="11250" dirty="0"/>
          </a:p>
        </p:txBody>
      </p:sp>
      <p:sp>
        <p:nvSpPr>
          <p:cNvPr id="13" name="Text 11"/>
          <p:cNvSpPr/>
          <p:nvPr/>
        </p:nvSpPr>
        <p:spPr>
          <a:xfrm>
            <a:off x="6826250" y="5432743"/>
            <a:ext cx="5099050" cy="393065"/>
          </a:xfrm>
          <a:prstGeom prst="rect">
            <a:avLst/>
          </a:prstGeom>
          <a:noFill/>
          <a:ln/>
        </p:spPr>
        <p:txBody>
          <a:bodyPr wrap="square" lIns="25400" tIns="25400" rIns="25400" bIns="25400" rtlCol="0" anchor="t">
            <a:normAutofit/>
          </a:bodyPr>
          <a:lstStyle/>
          <a:p>
            <a:pPr algn="l" indent="0" marL="0">
              <a:buNone/>
            </a:pPr>
            <a:r>
              <a:rPr lang="en-US" sz="2100" dirty="0">
                <a:solidFill>
                  <a:srgbClr val="6B6866"/>
                </a:solidFill>
                <a:latin typeface="Segoe UI" pitchFamily="34" charset="0"/>
                <a:ea typeface="Segoe UI" pitchFamily="34" charset="-122"/>
                <a:cs typeface="Segoe UI" pitchFamily="34" charset="-120"/>
              </a:rPr>
              <a:t>38% of portfolio</a:t>
            </a:r>
            <a:endParaRPr lang="en-US" sz="2100" dirty="0"/>
          </a:p>
        </p:txBody>
      </p:sp>
      <p:sp>
        <p:nvSpPr>
          <p:cNvPr id="14" name="Shape 12"/>
          <p:cNvSpPr/>
          <p:nvPr/>
        </p:nvSpPr>
        <p:spPr>
          <a:xfrm>
            <a:off x="11899900" y="3019108"/>
            <a:ext cx="5473700" cy="3263900"/>
          </a:xfrm>
          <a:prstGeom prst="rect">
            <a:avLst/>
          </a:prstGeom>
          <a:solidFill>
            <a:srgbClr val="FFFFFF"/>
          </a:solidFill>
          <a:ln/>
        </p:spPr>
      </p:sp>
      <p:sp>
        <p:nvSpPr>
          <p:cNvPr id="15" name="Text 13"/>
          <p:cNvSpPr/>
          <p:nvPr/>
        </p:nvSpPr>
        <p:spPr>
          <a:xfrm>
            <a:off x="12319000" y="3514408"/>
            <a:ext cx="5099050" cy="365760"/>
          </a:xfrm>
          <a:prstGeom prst="rect">
            <a:avLst/>
          </a:prstGeom>
          <a:noFill/>
          <a:ln/>
        </p:spPr>
        <p:txBody>
          <a:bodyPr wrap="square" lIns="25400" tIns="25400" rIns="25400" bIns="25400" rtlCol="0" anchor="t">
            <a:normAutofit/>
          </a:bodyPr>
          <a:lstStyle/>
          <a:p>
            <a:pPr algn="l" indent="0" marL="0">
              <a:buNone/>
            </a:pPr>
            <a:r>
              <a:rPr lang="en-US" sz="1950" b="1" spc="312" kern="0" dirty="0">
                <a:solidFill>
                  <a:srgbClr val="0078B3"/>
                </a:solidFill>
                <a:latin typeface="Segoe UI" pitchFamily="34" charset="0"/>
                <a:ea typeface="Segoe UI" pitchFamily="34" charset="-122"/>
                <a:cs typeface="Segoe UI" pitchFamily="34" charset="-120"/>
              </a:rPr>
              <a:t>LOW</a:t>
            </a:r>
            <a:endParaRPr lang="en-US" sz="1950" dirty="0"/>
          </a:p>
        </p:txBody>
      </p:sp>
      <p:sp>
        <p:nvSpPr>
          <p:cNvPr id="16" name="Text 14"/>
          <p:cNvSpPr/>
          <p:nvPr/>
        </p:nvSpPr>
        <p:spPr>
          <a:xfrm>
            <a:off x="12319000" y="3994468"/>
            <a:ext cx="5099050" cy="1323975"/>
          </a:xfrm>
          <a:prstGeom prst="rect">
            <a:avLst/>
          </a:prstGeom>
          <a:noFill/>
          <a:ln/>
        </p:spPr>
        <p:txBody>
          <a:bodyPr wrap="square" lIns="25400" tIns="25400" rIns="25400" bIns="25400" rtlCol="0" anchor="t">
            <a:normAutofit/>
          </a:bodyPr>
          <a:lstStyle/>
          <a:p>
            <a:pPr algn="l" indent="0" marL="0">
              <a:lnSpc>
                <a:spcPct val="67517"/>
              </a:lnSpc>
              <a:buNone/>
            </a:pPr>
            <a:r>
              <a:rPr lang="en-US" sz="11250" b="1" spc="-450" kern="0" dirty="0">
                <a:solidFill>
                  <a:srgbClr val="003B71"/>
                </a:solidFill>
                <a:latin typeface="Segoe UI" pitchFamily="34" charset="0"/>
                <a:ea typeface="Segoe UI" pitchFamily="34" charset="-122"/>
                <a:cs typeface="Segoe UI" pitchFamily="34" charset="-120"/>
              </a:rPr>
              <a:t>64</a:t>
            </a:r>
            <a:endParaRPr lang="en-US" sz="11250" dirty="0"/>
          </a:p>
        </p:txBody>
      </p:sp>
      <p:sp>
        <p:nvSpPr>
          <p:cNvPr id="17" name="Text 15"/>
          <p:cNvSpPr/>
          <p:nvPr/>
        </p:nvSpPr>
        <p:spPr>
          <a:xfrm>
            <a:off x="12319000" y="5432743"/>
            <a:ext cx="5099050" cy="393065"/>
          </a:xfrm>
          <a:prstGeom prst="rect">
            <a:avLst/>
          </a:prstGeom>
          <a:noFill/>
          <a:ln/>
        </p:spPr>
        <p:txBody>
          <a:bodyPr wrap="square" lIns="25400" tIns="25400" rIns="25400" bIns="25400" rtlCol="0" anchor="t">
            <a:normAutofit/>
          </a:bodyPr>
          <a:lstStyle/>
          <a:p>
            <a:pPr algn="l" indent="0" marL="0">
              <a:buNone/>
            </a:pPr>
            <a:r>
              <a:rPr lang="en-US" sz="2100" dirty="0">
                <a:solidFill>
                  <a:srgbClr val="6B6866"/>
                </a:solidFill>
                <a:latin typeface="Segoe UI" pitchFamily="34" charset="0"/>
                <a:ea typeface="Segoe UI" pitchFamily="34" charset="-122"/>
                <a:cs typeface="Segoe UI" pitchFamily="34" charset="-120"/>
              </a:rPr>
              <a:t>35% of portfolio</a:t>
            </a:r>
            <a:endParaRPr lang="en-US" sz="2100" dirty="0"/>
          </a:p>
        </p:txBody>
      </p:sp>
      <p:sp>
        <p:nvSpPr>
          <p:cNvPr id="18" name="Shape 16"/>
          <p:cNvSpPr/>
          <p:nvPr/>
        </p:nvSpPr>
        <p:spPr>
          <a:xfrm>
            <a:off x="914400" y="6302057"/>
            <a:ext cx="16459200" cy="13652"/>
          </a:xfrm>
          <a:prstGeom prst="rect">
            <a:avLst/>
          </a:prstGeom>
          <a:solidFill>
            <a:srgbClr val="003B71"/>
          </a:solidFill>
          <a:ln/>
        </p:spPr>
      </p:sp>
      <p:sp>
        <p:nvSpPr>
          <p:cNvPr id="19" name="Text 17"/>
          <p:cNvSpPr/>
          <p:nvPr/>
        </p:nvSpPr>
        <p:spPr>
          <a:xfrm>
            <a:off x="914400" y="6911657"/>
            <a:ext cx="4788567" cy="365760"/>
          </a:xfrm>
          <a:prstGeom prst="rect">
            <a:avLst/>
          </a:prstGeom>
          <a:noFill/>
          <a:ln/>
        </p:spPr>
        <p:txBody>
          <a:bodyPr wrap="square" lIns="25400" tIns="25400" rIns="25400" bIns="25400" rtlCol="0" anchor="t">
            <a:normAutofit/>
          </a:bodyPr>
          <a:lstStyle/>
          <a:p>
            <a:pPr algn="l" indent="0" marL="0">
              <a:buNone/>
            </a:pPr>
            <a:r>
              <a:rPr lang="en-US" sz="1950" b="1" spc="312" kern="0" dirty="0">
                <a:solidFill>
                  <a:srgbClr val="0078B3"/>
                </a:solidFill>
                <a:latin typeface="Segoe UI" pitchFamily="34" charset="0"/>
                <a:ea typeface="Segoe UI" pitchFamily="34" charset="-122"/>
                <a:cs typeface="Segoe UI" pitchFamily="34" charset="-120"/>
              </a:rPr>
              <a:t>TOTAL SCRIPTS INVENTORIED</a:t>
            </a:r>
            <a:endParaRPr lang="en-US" sz="1950" dirty="0"/>
          </a:p>
        </p:txBody>
      </p:sp>
      <p:sp>
        <p:nvSpPr>
          <p:cNvPr id="20" name="Text 18"/>
          <p:cNvSpPr/>
          <p:nvPr/>
        </p:nvSpPr>
        <p:spPr>
          <a:xfrm>
            <a:off x="5534342" y="6620510"/>
            <a:ext cx="1101407" cy="647700"/>
          </a:xfrm>
          <a:prstGeom prst="rect">
            <a:avLst/>
          </a:prstGeom>
          <a:noFill/>
          <a:ln/>
        </p:spPr>
        <p:txBody>
          <a:bodyPr wrap="square" lIns="25400" tIns="25400" rIns="25400" bIns="25400" rtlCol="0" anchor="t">
            <a:normAutofit/>
          </a:bodyPr>
          <a:lstStyle/>
          <a:p>
            <a:pPr algn="l" indent="0" marL="0">
              <a:lnSpc>
                <a:spcPct val="75680"/>
              </a:lnSpc>
              <a:buNone/>
            </a:pPr>
            <a:r>
              <a:rPr lang="en-US" sz="4800" b="1" dirty="0">
                <a:solidFill>
                  <a:srgbClr val="003B71"/>
                </a:solidFill>
                <a:latin typeface="Segoe UI" pitchFamily="34" charset="0"/>
                <a:ea typeface="Segoe UI" pitchFamily="34" charset="-122"/>
                <a:cs typeface="Segoe UI" pitchFamily="34" charset="-120"/>
              </a:rPr>
              <a:t>183</a:t>
            </a:r>
            <a:endParaRPr lang="en-US" sz="4800" dirty="0"/>
          </a:p>
        </p:txBody>
      </p:sp>
      <p:sp>
        <p:nvSpPr>
          <p:cNvPr id="21" name="Shape 19"/>
          <p:cNvSpPr/>
          <p:nvPr/>
        </p:nvSpPr>
        <p:spPr>
          <a:xfrm>
            <a:off x="914400" y="8964771"/>
            <a:ext cx="16459200" cy="13652"/>
          </a:xfrm>
          <a:prstGeom prst="rect">
            <a:avLst/>
          </a:prstGeom>
          <a:solidFill>
            <a:srgbClr val="003B71"/>
          </a:solidFill>
          <a:ln/>
        </p:spPr>
      </p:sp>
      <p:sp>
        <p:nvSpPr>
          <p:cNvPr id="22" name="Text 20"/>
          <p:cNvSpPr/>
          <p:nvPr/>
        </p:nvSpPr>
        <p:spPr>
          <a:xfrm>
            <a:off x="914400" y="9168924"/>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23" name="Text 21"/>
          <p:cNvSpPr/>
          <p:nvPr/>
        </p:nvSpPr>
        <p:spPr>
          <a:xfrm>
            <a:off x="17122457" y="9168924"/>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11</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2472055"/>
            <a:ext cx="16459200" cy="13652"/>
          </a:xfrm>
          <a:prstGeom prst="rect">
            <a:avLst/>
          </a:prstGeom>
          <a:solidFill>
            <a:srgbClr val="003B71"/>
          </a:solidFill>
          <a:ln/>
        </p:spPr>
      </p:sp>
      <p:sp>
        <p:nvSpPr>
          <p:cNvPr id="3" name="Text 1"/>
          <p:cNvSpPr/>
          <p:nvPr/>
        </p:nvSpPr>
        <p:spPr>
          <a:xfrm>
            <a:off x="914400" y="838200"/>
            <a:ext cx="18105120"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0078B3"/>
                </a:solidFill>
                <a:latin typeface="Segoe UI" pitchFamily="34" charset="0"/>
                <a:ea typeface="Segoe UI" pitchFamily="34" charset="-122"/>
                <a:cs typeface="Segoe UI" pitchFamily="34" charset="-120"/>
              </a:rPr>
              <a:t>APPENDIX F — MIGRATION PRIORITY</a:t>
            </a:r>
            <a:endParaRPr lang="en-US" sz="1800" dirty="0"/>
          </a:p>
        </p:txBody>
      </p:sp>
      <p:sp>
        <p:nvSpPr>
          <p:cNvPr id="4" name="Text 2"/>
          <p:cNvSpPr/>
          <p:nvPr/>
        </p:nvSpPr>
        <p:spPr>
          <a:xfrm>
            <a:off x="914400" y="1329055"/>
            <a:ext cx="18105120"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003B71"/>
                </a:solidFill>
                <a:latin typeface="Segoe UI" pitchFamily="34" charset="0"/>
                <a:ea typeface="Segoe UI" pitchFamily="34" charset="-122"/>
                <a:cs typeface="Segoe UI" pitchFamily="34" charset="-120"/>
              </a:rPr>
              <a:t>Why This Order</a:t>
            </a:r>
            <a:endParaRPr lang="en-US" sz="6300" dirty="0"/>
          </a:p>
        </p:txBody>
      </p:sp>
      <p:sp>
        <p:nvSpPr>
          <p:cNvPr id="5" name="Shape 3"/>
          <p:cNvSpPr/>
          <p:nvPr/>
        </p:nvSpPr>
        <p:spPr>
          <a:xfrm>
            <a:off x="914400" y="3019108"/>
            <a:ext cx="16459200" cy="5945664"/>
          </a:xfrm>
          <a:prstGeom prst="rect">
            <a:avLst/>
          </a:prstGeom>
          <a:solidFill>
            <a:srgbClr val="D6D4D3"/>
          </a:solidFill>
          <a:ln/>
        </p:spPr>
      </p:sp>
      <p:sp>
        <p:nvSpPr>
          <p:cNvPr id="6" name="Shape 4"/>
          <p:cNvSpPr/>
          <p:nvPr/>
        </p:nvSpPr>
        <p:spPr>
          <a:xfrm>
            <a:off x="914400" y="3019108"/>
            <a:ext cx="8220075" cy="5945664"/>
          </a:xfrm>
          <a:prstGeom prst="rect">
            <a:avLst/>
          </a:prstGeom>
          <a:solidFill>
            <a:srgbClr val="FFFFFF"/>
          </a:solidFill>
          <a:ln/>
        </p:spPr>
      </p:sp>
      <p:sp>
        <p:nvSpPr>
          <p:cNvPr id="7" name="Text 5"/>
          <p:cNvSpPr/>
          <p:nvPr/>
        </p:nvSpPr>
        <p:spPr>
          <a:xfrm>
            <a:off x="914400" y="3438208"/>
            <a:ext cx="8539163" cy="36576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03B71"/>
                </a:solidFill>
                <a:latin typeface="Segoe UI" pitchFamily="34" charset="0"/>
                <a:ea typeface="Segoe UI" pitchFamily="34" charset="-122"/>
                <a:cs typeface="Segoe UI" pitchFamily="34" charset="-120"/>
              </a:rPr>
              <a:t>HIGH PRIORITY CONCENTRATES ON</a:t>
            </a:r>
            <a:endParaRPr lang="en-US" sz="1950" dirty="0"/>
          </a:p>
        </p:txBody>
      </p:sp>
      <p:sp>
        <p:nvSpPr>
          <p:cNvPr id="8" name="Shape 6"/>
          <p:cNvSpPr/>
          <p:nvPr/>
        </p:nvSpPr>
        <p:spPr>
          <a:xfrm>
            <a:off x="914400" y="4070668"/>
            <a:ext cx="1843405" cy="556260"/>
          </a:xfrm>
          <a:prstGeom prst="rect">
            <a:avLst/>
          </a:prstGeom>
          <a:solidFill>
            <a:srgbClr val="0078B3"/>
          </a:solidFill>
          <a:ln/>
        </p:spPr>
      </p:sp>
      <p:sp>
        <p:nvSpPr>
          <p:cNvPr id="9" name="Text 7"/>
          <p:cNvSpPr/>
          <p:nvPr/>
        </p:nvSpPr>
        <p:spPr>
          <a:xfrm>
            <a:off x="1104900" y="4184968"/>
            <a:ext cx="1538605" cy="36576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Segoe UI" pitchFamily="34" charset="0"/>
                <a:ea typeface="Segoe UI" pitchFamily="34" charset="-122"/>
                <a:cs typeface="Segoe UI" pitchFamily="34" charset="-120"/>
              </a:rPr>
              <a:t>ETL pipelines</a:t>
            </a:r>
            <a:endParaRPr lang="en-US" sz="1950" dirty="0"/>
          </a:p>
        </p:txBody>
      </p:sp>
      <p:sp>
        <p:nvSpPr>
          <p:cNvPr id="10" name="Shape 8"/>
          <p:cNvSpPr/>
          <p:nvPr/>
        </p:nvSpPr>
        <p:spPr>
          <a:xfrm>
            <a:off x="2872105" y="4070668"/>
            <a:ext cx="2744629" cy="556260"/>
          </a:xfrm>
          <a:prstGeom prst="rect">
            <a:avLst/>
          </a:prstGeom>
          <a:solidFill>
            <a:srgbClr val="0078B3"/>
          </a:solidFill>
          <a:ln/>
        </p:spPr>
      </p:sp>
      <p:sp>
        <p:nvSpPr>
          <p:cNvPr id="11" name="Text 9"/>
          <p:cNvSpPr/>
          <p:nvPr/>
        </p:nvSpPr>
        <p:spPr>
          <a:xfrm>
            <a:off x="3062605" y="4184968"/>
            <a:ext cx="2445968" cy="36576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Segoe UI" pitchFamily="34" charset="0"/>
                <a:ea typeface="Segoe UI" pitchFamily="34" charset="-122"/>
                <a:cs typeface="Segoe UI" pitchFamily="34" charset="-120"/>
              </a:rPr>
              <a:t>Regulatory reporting</a:t>
            </a:r>
            <a:endParaRPr lang="en-US" sz="1950" dirty="0"/>
          </a:p>
        </p:txBody>
      </p:sp>
      <p:sp>
        <p:nvSpPr>
          <p:cNvPr id="12" name="Shape 10"/>
          <p:cNvSpPr/>
          <p:nvPr/>
        </p:nvSpPr>
        <p:spPr>
          <a:xfrm>
            <a:off x="5731034" y="4070668"/>
            <a:ext cx="2596832" cy="556260"/>
          </a:xfrm>
          <a:prstGeom prst="rect">
            <a:avLst/>
          </a:prstGeom>
          <a:solidFill>
            <a:srgbClr val="0078B3"/>
          </a:solidFill>
          <a:ln/>
        </p:spPr>
      </p:sp>
      <p:sp>
        <p:nvSpPr>
          <p:cNvPr id="13" name="Text 11"/>
          <p:cNvSpPr/>
          <p:nvPr/>
        </p:nvSpPr>
        <p:spPr>
          <a:xfrm>
            <a:off x="5921534" y="4184968"/>
            <a:ext cx="2293737" cy="36576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Segoe UI" pitchFamily="34" charset="0"/>
                <a:ea typeface="Segoe UI" pitchFamily="34" charset="-122"/>
                <a:cs typeface="Segoe UI" pitchFamily="34" charset="-120"/>
              </a:rPr>
              <a:t>Data mart refreshes</a:t>
            </a:r>
            <a:endParaRPr lang="en-US" sz="1950" dirty="0"/>
          </a:p>
        </p:txBody>
      </p:sp>
      <p:sp>
        <p:nvSpPr>
          <p:cNvPr id="14" name="Shape 12"/>
          <p:cNvSpPr/>
          <p:nvPr/>
        </p:nvSpPr>
        <p:spPr>
          <a:xfrm>
            <a:off x="914400" y="4741227"/>
            <a:ext cx="2048669" cy="556260"/>
          </a:xfrm>
          <a:prstGeom prst="rect">
            <a:avLst/>
          </a:prstGeom>
          <a:solidFill>
            <a:srgbClr val="0078B3"/>
          </a:solidFill>
          <a:ln/>
        </p:spPr>
      </p:sp>
      <p:sp>
        <p:nvSpPr>
          <p:cNvPr id="15" name="Text 13"/>
          <p:cNvSpPr/>
          <p:nvPr/>
        </p:nvSpPr>
        <p:spPr>
          <a:xfrm>
            <a:off x="1104900" y="4855527"/>
            <a:ext cx="1743869" cy="36576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Segoe UI" pitchFamily="34" charset="0"/>
                <a:ea typeface="Segoe UI" pitchFamily="34" charset="-122"/>
                <a:cs typeface="Segoe UI" pitchFamily="34" charset="-120"/>
              </a:rPr>
              <a:t>Shared utilities</a:t>
            </a:r>
            <a:endParaRPr lang="en-US" sz="1950" dirty="0"/>
          </a:p>
        </p:txBody>
      </p:sp>
      <p:sp>
        <p:nvSpPr>
          <p:cNvPr id="16" name="Shape 14"/>
          <p:cNvSpPr/>
          <p:nvPr/>
        </p:nvSpPr>
        <p:spPr>
          <a:xfrm>
            <a:off x="9153525" y="3019108"/>
            <a:ext cx="8220075" cy="5945664"/>
          </a:xfrm>
          <a:prstGeom prst="rect">
            <a:avLst/>
          </a:prstGeom>
          <a:solidFill>
            <a:srgbClr val="FFFFFF"/>
          </a:solidFill>
          <a:ln/>
        </p:spPr>
      </p:sp>
      <p:sp>
        <p:nvSpPr>
          <p:cNvPr id="17" name="Text 15"/>
          <p:cNvSpPr/>
          <p:nvPr/>
        </p:nvSpPr>
        <p:spPr>
          <a:xfrm>
            <a:off x="9610725" y="3438208"/>
            <a:ext cx="8539163" cy="36576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03B71"/>
                </a:solidFill>
                <a:latin typeface="Segoe UI" pitchFamily="34" charset="0"/>
                <a:ea typeface="Segoe UI" pitchFamily="34" charset="-122"/>
                <a:cs typeface="Segoe UI" pitchFamily="34" charset="-120"/>
              </a:rPr>
              <a:t>THE REASONING</a:t>
            </a:r>
            <a:endParaRPr lang="en-US" sz="1950" dirty="0"/>
          </a:p>
        </p:txBody>
      </p:sp>
      <p:sp>
        <p:nvSpPr>
          <p:cNvPr id="18" name="Text 16"/>
          <p:cNvSpPr/>
          <p:nvPr/>
        </p:nvSpPr>
        <p:spPr>
          <a:xfrm>
            <a:off x="9610725" y="3994468"/>
            <a:ext cx="7995761" cy="1866900"/>
          </a:xfrm>
          <a:prstGeom prst="rect">
            <a:avLst/>
          </a:prstGeom>
          <a:noFill/>
          <a:ln/>
        </p:spPr>
        <p:txBody>
          <a:bodyPr wrap="square" lIns="25400" tIns="25400" rIns="25400" bIns="25400" rtlCol="0" anchor="t">
            <a:normAutofit/>
          </a:bodyPr>
          <a:lstStyle/>
          <a:p>
            <a:pPr algn="l" indent="0" marL="0">
              <a:lnSpc>
                <a:spcPct val="113520"/>
              </a:lnSpc>
              <a:buNone/>
            </a:pPr>
            <a:r>
              <a:rPr lang="en-US" sz="2400" dirty="0">
                <a:solidFill>
                  <a:srgbClr val="201E1D"/>
                </a:solidFill>
                <a:latin typeface="Segoe UI" pitchFamily="34" charset="0"/>
                <a:ea typeface="Segoe UI" pitchFamily="34" charset="-122"/>
                <a:cs typeface="Segoe UI" pitchFamily="34" charset="-120"/>
              </a:rPr>
              <a:t>Regulatory reporting, recurring production processes, data mart refreshes, critical data feeds, and reusable automation components were prioritized because </a:t>
            </a:r>
            <a:pPr algn="l" indent="0" marL="0">
              <a:lnSpc>
                <a:spcPct val="113520"/>
              </a:lnSpc>
              <a:buNone/>
            </a:pPr>
            <a:r>
              <a:rPr lang="en-US" sz="2400" b="1" dirty="0">
                <a:solidFill>
                  <a:srgbClr val="003B71"/>
                </a:solidFill>
                <a:latin typeface="Segoe UI" pitchFamily="34" charset="0"/>
                <a:ea typeface="Segoe UI" pitchFamily="34" charset="-122"/>
                <a:cs typeface="Segoe UI" pitchFamily="34" charset="-120"/>
              </a:rPr>
              <a:t>outages or defects would have broad business impact.</a:t>
            </a:r>
            <a:endParaRPr lang="en-US" sz="2400" dirty="0"/>
          </a:p>
        </p:txBody>
      </p:sp>
      <p:sp>
        <p:nvSpPr>
          <p:cNvPr id="19" name="Shape 17"/>
          <p:cNvSpPr/>
          <p:nvPr/>
        </p:nvSpPr>
        <p:spPr>
          <a:xfrm>
            <a:off x="914400" y="8964771"/>
            <a:ext cx="16459200" cy="13652"/>
          </a:xfrm>
          <a:prstGeom prst="rect">
            <a:avLst/>
          </a:prstGeom>
          <a:solidFill>
            <a:srgbClr val="003B71"/>
          </a:solidFill>
          <a:ln/>
        </p:spPr>
      </p:sp>
      <p:sp>
        <p:nvSpPr>
          <p:cNvPr id="20" name="Text 18"/>
          <p:cNvSpPr/>
          <p:nvPr/>
        </p:nvSpPr>
        <p:spPr>
          <a:xfrm>
            <a:off x="914400" y="9168924"/>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21" name="Text 19"/>
          <p:cNvSpPr/>
          <p:nvPr/>
        </p:nvSpPr>
        <p:spPr>
          <a:xfrm>
            <a:off x="17122457" y="9168924"/>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12</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2472055"/>
            <a:ext cx="16459200" cy="13652"/>
          </a:xfrm>
          <a:prstGeom prst="rect">
            <a:avLst/>
          </a:prstGeom>
          <a:solidFill>
            <a:srgbClr val="003B71"/>
          </a:solidFill>
          <a:ln/>
        </p:spPr>
      </p:sp>
      <p:sp>
        <p:nvSpPr>
          <p:cNvPr id="3" name="Text 1"/>
          <p:cNvSpPr/>
          <p:nvPr/>
        </p:nvSpPr>
        <p:spPr>
          <a:xfrm>
            <a:off x="914400" y="838200"/>
            <a:ext cx="18105120" cy="33845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0078B3"/>
                </a:solidFill>
                <a:latin typeface="Segoe UI" pitchFamily="34" charset="0"/>
                <a:ea typeface="Segoe UI" pitchFamily="34" charset="-122"/>
                <a:cs typeface="Segoe UI" pitchFamily="34" charset="-120"/>
              </a:rPr>
              <a:t>APPENDIX G — RECOMMENDATIONS</a:t>
            </a:r>
            <a:endParaRPr lang="en-US" sz="1800" dirty="0"/>
          </a:p>
        </p:txBody>
      </p:sp>
      <p:sp>
        <p:nvSpPr>
          <p:cNvPr id="4" name="Text 2"/>
          <p:cNvSpPr/>
          <p:nvPr/>
        </p:nvSpPr>
        <p:spPr>
          <a:xfrm>
            <a:off x="914400" y="1329055"/>
            <a:ext cx="18105120" cy="838200"/>
          </a:xfrm>
          <a:prstGeom prst="rect">
            <a:avLst/>
          </a:prstGeom>
          <a:noFill/>
          <a:ln/>
        </p:spPr>
        <p:txBody>
          <a:bodyPr wrap="square" lIns="25400" tIns="25400" rIns="25400" bIns="25400" rtlCol="0" anchor="t">
            <a:normAutofit/>
          </a:bodyPr>
          <a:lstStyle/>
          <a:p>
            <a:pPr algn="l" indent="0" marL="0">
              <a:lnSpc>
                <a:spcPct val="75619"/>
              </a:lnSpc>
              <a:buNone/>
            </a:pPr>
            <a:r>
              <a:rPr lang="en-US" sz="6300" b="1" spc="-158" kern="0" dirty="0">
                <a:solidFill>
                  <a:srgbClr val="003B71"/>
                </a:solidFill>
                <a:latin typeface="Segoe UI" pitchFamily="34" charset="0"/>
                <a:ea typeface="Segoe UI" pitchFamily="34" charset="-122"/>
                <a:cs typeface="Segoe UI" pitchFamily="34" charset="-120"/>
              </a:rPr>
              <a:t>Low Priority Items</a:t>
            </a:r>
            <a:endParaRPr lang="en-US" sz="6300" dirty="0"/>
          </a:p>
        </p:txBody>
      </p:sp>
      <p:sp>
        <p:nvSpPr>
          <p:cNvPr id="5" name="Text 3"/>
          <p:cNvSpPr/>
          <p:nvPr/>
        </p:nvSpPr>
        <p:spPr>
          <a:xfrm>
            <a:off x="914400" y="2981008"/>
            <a:ext cx="8468966" cy="2524125"/>
          </a:xfrm>
          <a:prstGeom prst="rect">
            <a:avLst/>
          </a:prstGeom>
          <a:noFill/>
          <a:ln/>
        </p:spPr>
        <p:txBody>
          <a:bodyPr wrap="square" lIns="25400" tIns="25400" rIns="25400" bIns="25400" rtlCol="0" anchor="t">
            <a:normAutofit/>
          </a:bodyPr>
          <a:lstStyle/>
          <a:p>
            <a:pPr algn="l" indent="0" marL="0">
              <a:lnSpc>
                <a:spcPct val="108712"/>
              </a:lnSpc>
              <a:buNone/>
            </a:pPr>
            <a:r>
              <a:rPr lang="en-US" sz="2700" dirty="0">
                <a:solidFill>
                  <a:srgbClr val="201E1D"/>
                </a:solidFill>
                <a:latin typeface="Segoe UI" pitchFamily="34" charset="0"/>
                <a:ea typeface="Segoe UI" pitchFamily="34" charset="-122"/>
                <a:cs typeface="Segoe UI" pitchFamily="34" charset="-120"/>
              </a:rPr>
              <a:t>Many low-priority assets were explicitly marked as </a:t>
            </a:r>
            <a:pPr algn="l" indent="0" marL="0">
              <a:lnSpc>
                <a:spcPct val="108712"/>
              </a:lnSpc>
              <a:buNone/>
            </a:pPr>
            <a:r>
              <a:rPr lang="en-US" sz="2700" b="1" dirty="0">
                <a:solidFill>
                  <a:srgbClr val="003B71"/>
                </a:solidFill>
                <a:latin typeface="Segoe UI" pitchFamily="34" charset="0"/>
                <a:ea typeface="Segoe UI" pitchFamily="34" charset="-122"/>
                <a:cs typeface="Segoe UI" pitchFamily="34" charset="-120"/>
              </a:rPr>
              <a:t>no longer needed, retiring, unknown, one-time analyses, or superseded reports. </a:t>
            </a:r>
            <a:pPr algn="l" indent="0" marL="0">
              <a:lnSpc>
                <a:spcPct val="108712"/>
              </a:lnSpc>
              <a:buNone/>
            </a:pPr>
            <a:r>
              <a:rPr lang="en-US" sz="2700" dirty="0">
                <a:solidFill>
                  <a:srgbClr val="201E1D"/>
                </a:solidFill>
                <a:latin typeface="Segoe UI" pitchFamily="34" charset="0"/>
                <a:ea typeface="Segoe UI" pitchFamily="34" charset="-122"/>
                <a:cs typeface="Segoe UI" pitchFamily="34" charset="-120"/>
              </a:rPr>
              <a:t>These should be validated for dependencies and considered for archival.</a:t>
            </a:r>
            <a:endParaRPr lang="en-US" sz="2700" dirty="0"/>
          </a:p>
        </p:txBody>
      </p:sp>
      <p:sp>
        <p:nvSpPr>
          <p:cNvPr id="6" name="Shape 4"/>
          <p:cNvSpPr/>
          <p:nvPr/>
        </p:nvSpPr>
        <p:spPr>
          <a:xfrm>
            <a:off x="9898698" y="2981008"/>
            <a:ext cx="13652" cy="2486025"/>
          </a:xfrm>
          <a:prstGeom prst="rect">
            <a:avLst/>
          </a:prstGeom>
          <a:solidFill>
            <a:srgbClr val="003B71"/>
          </a:solidFill>
          <a:ln/>
        </p:spPr>
      </p:sp>
      <p:sp>
        <p:nvSpPr>
          <p:cNvPr id="7" name="Text 5"/>
          <p:cNvSpPr/>
          <p:nvPr/>
        </p:nvSpPr>
        <p:spPr>
          <a:xfrm>
            <a:off x="10331450" y="2981008"/>
            <a:ext cx="7746365" cy="36576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078B3"/>
                </a:solidFill>
                <a:latin typeface="Segoe UI" pitchFamily="34" charset="0"/>
                <a:ea typeface="Segoe UI" pitchFamily="34" charset="-122"/>
                <a:cs typeface="Segoe UI" pitchFamily="34" charset="-120"/>
              </a:rPr>
              <a:t>OPPORTUNITY</a:t>
            </a:r>
            <a:endParaRPr lang="en-US" sz="1950" dirty="0"/>
          </a:p>
        </p:txBody>
      </p:sp>
      <p:sp>
        <p:nvSpPr>
          <p:cNvPr id="8" name="Text 6"/>
          <p:cNvSpPr/>
          <p:nvPr/>
        </p:nvSpPr>
        <p:spPr>
          <a:xfrm>
            <a:off x="10331450" y="3499168"/>
            <a:ext cx="7746365" cy="984568"/>
          </a:xfrm>
          <a:prstGeom prst="rect">
            <a:avLst/>
          </a:prstGeom>
          <a:noFill/>
          <a:ln/>
        </p:spPr>
        <p:txBody>
          <a:bodyPr wrap="square" lIns="25400" tIns="25400" rIns="25400" bIns="25400" rtlCol="0" anchor="t">
            <a:normAutofit/>
          </a:bodyPr>
          <a:lstStyle/>
          <a:p>
            <a:pPr algn="l" indent="0" marL="0">
              <a:lnSpc>
                <a:spcPct val="68981"/>
              </a:lnSpc>
              <a:buNone/>
            </a:pPr>
            <a:r>
              <a:rPr lang="en-US" sz="8100" b="1" spc="-243" kern="0" dirty="0">
                <a:solidFill>
                  <a:srgbClr val="003B71"/>
                </a:solidFill>
                <a:latin typeface="Segoe UI" pitchFamily="34" charset="0"/>
                <a:ea typeface="Segoe UI" pitchFamily="34" charset="-122"/>
                <a:cs typeface="Segoe UI" pitchFamily="34" charset="-120"/>
              </a:rPr>
              <a:t>64</a:t>
            </a:r>
            <a:endParaRPr lang="en-US" sz="8100" dirty="0"/>
          </a:p>
        </p:txBody>
      </p:sp>
      <p:sp>
        <p:nvSpPr>
          <p:cNvPr id="9" name="Text 7"/>
          <p:cNvSpPr/>
          <p:nvPr/>
        </p:nvSpPr>
        <p:spPr>
          <a:xfrm>
            <a:off x="10331450" y="4636135"/>
            <a:ext cx="7253414" cy="784860"/>
          </a:xfrm>
          <a:prstGeom prst="rect">
            <a:avLst/>
          </a:prstGeom>
          <a:noFill/>
          <a:ln/>
        </p:spPr>
        <p:txBody>
          <a:bodyPr wrap="square" lIns="25400" tIns="25400" rIns="25400" bIns="25400" rtlCol="0" anchor="t">
            <a:normAutofit/>
          </a:bodyPr>
          <a:lstStyle/>
          <a:p>
            <a:pPr algn="l" indent="0" marL="0">
              <a:lnSpc>
                <a:spcPct val="105188"/>
              </a:lnSpc>
              <a:buNone/>
            </a:pPr>
            <a:r>
              <a:rPr lang="en-US" sz="2100" dirty="0">
                <a:solidFill>
                  <a:srgbClr val="4A4746"/>
                </a:solidFill>
                <a:latin typeface="Segoe UI" pitchFamily="34" charset="0"/>
                <a:ea typeface="Segoe UI" pitchFamily="34" charset="-122"/>
                <a:cs typeface="Segoe UI" pitchFamily="34" charset="-120"/>
              </a:rPr>
              <a:t>scripts that may not need migrating at all — retirement is cheaper than rewriting.</a:t>
            </a:r>
            <a:endParaRPr lang="en-US" sz="2100" dirty="0"/>
          </a:p>
        </p:txBody>
      </p:sp>
      <p:sp>
        <p:nvSpPr>
          <p:cNvPr id="10" name="Text 8"/>
          <p:cNvSpPr/>
          <p:nvPr/>
        </p:nvSpPr>
        <p:spPr>
          <a:xfrm>
            <a:off x="914400" y="6090761"/>
            <a:ext cx="18105120" cy="365760"/>
          </a:xfrm>
          <a:prstGeom prst="rect">
            <a:avLst/>
          </a:prstGeom>
          <a:noFill/>
          <a:ln/>
        </p:spPr>
        <p:txBody>
          <a:bodyPr wrap="square" lIns="25400" tIns="25400" rIns="25400" bIns="25400" rtlCol="0" anchor="t">
            <a:normAutofit/>
          </a:bodyPr>
          <a:lstStyle/>
          <a:p>
            <a:pPr algn="l" indent="0" marL="0">
              <a:buNone/>
            </a:pPr>
            <a:r>
              <a:rPr lang="en-US" sz="1950" b="1" spc="312" kern="0" dirty="0">
                <a:solidFill>
                  <a:srgbClr val="0078B3"/>
                </a:solidFill>
                <a:latin typeface="Segoe UI" pitchFamily="34" charset="0"/>
                <a:ea typeface="Segoe UI" pitchFamily="34" charset="-122"/>
                <a:cs typeface="Segoe UI" pitchFamily="34" charset="-120"/>
              </a:rPr>
              <a:t>RECOMMENDED SEQUENCE</a:t>
            </a:r>
            <a:endParaRPr lang="en-US" sz="1950" dirty="0"/>
          </a:p>
        </p:txBody>
      </p:sp>
      <p:sp>
        <p:nvSpPr>
          <p:cNvPr id="11" name="Shape 9"/>
          <p:cNvSpPr/>
          <p:nvPr/>
        </p:nvSpPr>
        <p:spPr>
          <a:xfrm>
            <a:off x="914400" y="6647021"/>
            <a:ext cx="16459200" cy="1974850"/>
          </a:xfrm>
          <a:prstGeom prst="rect">
            <a:avLst/>
          </a:prstGeom>
          <a:solidFill>
            <a:srgbClr val="003B71"/>
          </a:solidFill>
          <a:ln/>
        </p:spPr>
      </p:sp>
      <p:sp>
        <p:nvSpPr>
          <p:cNvPr id="12" name="Shape 10"/>
          <p:cNvSpPr/>
          <p:nvPr/>
        </p:nvSpPr>
        <p:spPr>
          <a:xfrm>
            <a:off x="914400" y="6647021"/>
            <a:ext cx="5473700" cy="1974850"/>
          </a:xfrm>
          <a:prstGeom prst="rect">
            <a:avLst/>
          </a:prstGeom>
          <a:solidFill>
            <a:srgbClr val="003B71"/>
          </a:solidFill>
          <a:ln/>
        </p:spPr>
      </p:sp>
      <p:sp>
        <p:nvSpPr>
          <p:cNvPr id="13" name="Text 11"/>
          <p:cNvSpPr/>
          <p:nvPr/>
        </p:nvSpPr>
        <p:spPr>
          <a:xfrm>
            <a:off x="1295400" y="6989921"/>
            <a:ext cx="5182870" cy="420370"/>
          </a:xfrm>
          <a:prstGeom prst="rect">
            <a:avLst/>
          </a:prstGeom>
          <a:noFill/>
          <a:ln/>
        </p:spPr>
        <p:txBody>
          <a:bodyPr wrap="square" lIns="25400" tIns="25400" rIns="25400" bIns="25400" rtlCol="0" anchor="t">
            <a:normAutofit/>
          </a:bodyPr>
          <a:lstStyle/>
          <a:p>
            <a:pPr algn="l" indent="0" marL="0">
              <a:buNone/>
            </a:pPr>
            <a:r>
              <a:rPr lang="en-US" sz="2250" b="1" dirty="0">
                <a:solidFill>
                  <a:srgbClr val="40C1AC"/>
                </a:solidFill>
                <a:latin typeface="Segoe UI" pitchFamily="34" charset="0"/>
                <a:ea typeface="Segoe UI" pitchFamily="34" charset="-122"/>
                <a:cs typeface="Segoe UI" pitchFamily="34" charset="-120"/>
              </a:rPr>
              <a:t>01</a:t>
            </a:r>
            <a:endParaRPr lang="en-US" sz="2250" dirty="0"/>
          </a:p>
        </p:txBody>
      </p:sp>
      <p:sp>
        <p:nvSpPr>
          <p:cNvPr id="14" name="Text 12"/>
          <p:cNvSpPr/>
          <p:nvPr/>
        </p:nvSpPr>
        <p:spPr>
          <a:xfrm>
            <a:off x="1295400" y="7486491"/>
            <a:ext cx="5182870" cy="434340"/>
          </a:xfrm>
          <a:prstGeom prst="rect">
            <a:avLst/>
          </a:prstGeom>
          <a:noFill/>
          <a:ln/>
        </p:spPr>
        <p:txBody>
          <a:bodyPr wrap="square" lIns="25400" tIns="25400" rIns="25400" bIns="25400" rtlCol="0" anchor="t">
            <a:normAutofit/>
          </a:bodyPr>
          <a:lstStyle/>
          <a:p>
            <a:pPr algn="l" indent="0" marL="0">
              <a:lnSpc>
                <a:spcPct val="98384"/>
              </a:lnSpc>
              <a:buNone/>
            </a:pPr>
            <a:r>
              <a:rPr lang="en-US" sz="2400" b="1" dirty="0">
                <a:solidFill>
                  <a:srgbClr val="FFFFFF"/>
                </a:solidFill>
                <a:latin typeface="Segoe UI" pitchFamily="34" charset="0"/>
                <a:ea typeface="Segoe UI" pitchFamily="34" charset="-122"/>
                <a:cs typeface="Segoe UI" pitchFamily="34" charset="-120"/>
              </a:rPr>
              <a:t>High-priority production assets</a:t>
            </a:r>
            <a:endParaRPr lang="en-US" sz="2400" dirty="0"/>
          </a:p>
        </p:txBody>
      </p:sp>
      <p:sp>
        <p:nvSpPr>
          <p:cNvPr id="15" name="Shape 13"/>
          <p:cNvSpPr/>
          <p:nvPr/>
        </p:nvSpPr>
        <p:spPr>
          <a:xfrm>
            <a:off x="6407150" y="6647021"/>
            <a:ext cx="5473700" cy="1974850"/>
          </a:xfrm>
          <a:prstGeom prst="rect">
            <a:avLst/>
          </a:prstGeom>
          <a:solidFill>
            <a:srgbClr val="0078B3"/>
          </a:solidFill>
          <a:ln/>
        </p:spPr>
      </p:sp>
      <p:sp>
        <p:nvSpPr>
          <p:cNvPr id="16" name="Text 14"/>
          <p:cNvSpPr/>
          <p:nvPr/>
        </p:nvSpPr>
        <p:spPr>
          <a:xfrm>
            <a:off x="6788150" y="6989921"/>
            <a:ext cx="5182870" cy="420370"/>
          </a:xfrm>
          <a:prstGeom prst="rect">
            <a:avLst/>
          </a:prstGeom>
          <a:noFill/>
          <a:ln/>
        </p:spPr>
        <p:txBody>
          <a:bodyPr wrap="square" lIns="25400" tIns="25400" rIns="25400" bIns="25400" rtlCol="0" anchor="t">
            <a:normAutofit/>
          </a:bodyPr>
          <a:lstStyle/>
          <a:p>
            <a:pPr algn="l" indent="0" marL="0">
              <a:buNone/>
            </a:pPr>
            <a:r>
              <a:rPr lang="en-US" sz="2250" b="1" dirty="0">
                <a:solidFill>
                  <a:srgbClr val="B9EDE4"/>
                </a:solidFill>
                <a:latin typeface="Segoe UI" pitchFamily="34" charset="0"/>
                <a:ea typeface="Segoe UI" pitchFamily="34" charset="-122"/>
                <a:cs typeface="Segoe UI" pitchFamily="34" charset="-120"/>
              </a:rPr>
              <a:t>02</a:t>
            </a:r>
            <a:endParaRPr lang="en-US" sz="2250" dirty="0"/>
          </a:p>
        </p:txBody>
      </p:sp>
      <p:sp>
        <p:nvSpPr>
          <p:cNvPr id="17" name="Text 15"/>
          <p:cNvSpPr/>
          <p:nvPr/>
        </p:nvSpPr>
        <p:spPr>
          <a:xfrm>
            <a:off x="6788150" y="7486491"/>
            <a:ext cx="4853051" cy="830580"/>
          </a:xfrm>
          <a:prstGeom prst="rect">
            <a:avLst/>
          </a:prstGeom>
          <a:noFill/>
          <a:ln/>
        </p:spPr>
        <p:txBody>
          <a:bodyPr wrap="square" lIns="25400" tIns="25400" rIns="25400" bIns="25400" rtlCol="0" anchor="t">
            <a:normAutofit/>
          </a:bodyPr>
          <a:lstStyle/>
          <a:p>
            <a:pPr algn="l" indent="0" marL="0">
              <a:lnSpc>
                <a:spcPct val="98384"/>
              </a:lnSpc>
              <a:buNone/>
            </a:pPr>
            <a:r>
              <a:rPr lang="en-US" sz="2400" b="1" dirty="0">
                <a:solidFill>
                  <a:srgbClr val="FFFFFF"/>
                </a:solidFill>
                <a:latin typeface="Segoe UI" pitchFamily="34" charset="0"/>
                <a:ea typeface="Segoe UI" pitchFamily="34" charset="-122"/>
                <a:cs typeface="Segoe UI" pitchFamily="34" charset="-120"/>
              </a:rPr>
              <a:t>Medium-priority utilities and reports</a:t>
            </a:r>
            <a:endParaRPr lang="en-US" sz="2400" dirty="0"/>
          </a:p>
        </p:txBody>
      </p:sp>
      <p:sp>
        <p:nvSpPr>
          <p:cNvPr id="18" name="Shape 16"/>
          <p:cNvSpPr/>
          <p:nvPr/>
        </p:nvSpPr>
        <p:spPr>
          <a:xfrm>
            <a:off x="11899900" y="6647021"/>
            <a:ext cx="5473700" cy="1974850"/>
          </a:xfrm>
          <a:prstGeom prst="rect">
            <a:avLst/>
          </a:prstGeom>
          <a:solidFill>
            <a:srgbClr val="40C1AC"/>
          </a:solidFill>
          <a:ln/>
        </p:spPr>
      </p:sp>
      <p:sp>
        <p:nvSpPr>
          <p:cNvPr id="19" name="Text 17"/>
          <p:cNvSpPr/>
          <p:nvPr/>
        </p:nvSpPr>
        <p:spPr>
          <a:xfrm>
            <a:off x="12280900" y="6989921"/>
            <a:ext cx="5182870" cy="420370"/>
          </a:xfrm>
          <a:prstGeom prst="rect">
            <a:avLst/>
          </a:prstGeom>
          <a:noFill/>
          <a:ln/>
        </p:spPr>
        <p:txBody>
          <a:bodyPr wrap="square" lIns="25400" tIns="25400" rIns="25400" bIns="25400" rtlCol="0" anchor="t">
            <a:normAutofit/>
          </a:bodyPr>
          <a:lstStyle/>
          <a:p>
            <a:pPr algn="l" indent="0" marL="0">
              <a:buNone/>
            </a:pPr>
            <a:r>
              <a:rPr lang="en-US" sz="2250" b="1" dirty="0">
                <a:solidFill>
                  <a:srgbClr val="003B71"/>
                </a:solidFill>
                <a:latin typeface="Segoe UI" pitchFamily="34" charset="0"/>
                <a:ea typeface="Segoe UI" pitchFamily="34" charset="-122"/>
                <a:cs typeface="Segoe UI" pitchFamily="34" charset="-120"/>
              </a:rPr>
              <a:t>03</a:t>
            </a:r>
            <a:endParaRPr lang="en-US" sz="2250" dirty="0"/>
          </a:p>
        </p:txBody>
      </p:sp>
      <p:sp>
        <p:nvSpPr>
          <p:cNvPr id="20" name="Text 18"/>
          <p:cNvSpPr/>
          <p:nvPr/>
        </p:nvSpPr>
        <p:spPr>
          <a:xfrm>
            <a:off x="12280900" y="7486491"/>
            <a:ext cx="4853051" cy="830580"/>
          </a:xfrm>
          <a:prstGeom prst="rect">
            <a:avLst/>
          </a:prstGeom>
          <a:noFill/>
          <a:ln/>
        </p:spPr>
        <p:txBody>
          <a:bodyPr wrap="square" lIns="25400" tIns="25400" rIns="25400" bIns="25400" rtlCol="0" anchor="t">
            <a:normAutofit/>
          </a:bodyPr>
          <a:lstStyle/>
          <a:p>
            <a:pPr algn="l" indent="0" marL="0">
              <a:lnSpc>
                <a:spcPct val="98384"/>
              </a:lnSpc>
              <a:buNone/>
            </a:pPr>
            <a:r>
              <a:rPr lang="en-US" sz="2400" b="1" dirty="0">
                <a:solidFill>
                  <a:srgbClr val="00312E"/>
                </a:solidFill>
                <a:latin typeface="Segoe UI" pitchFamily="34" charset="0"/>
                <a:ea typeface="Segoe UI" pitchFamily="34" charset="-122"/>
                <a:cs typeface="Segoe UI" pitchFamily="34" charset="-120"/>
              </a:rPr>
              <a:t>Low-priority retirement candidates</a:t>
            </a:r>
            <a:endParaRPr lang="en-US" sz="2400" dirty="0"/>
          </a:p>
        </p:txBody>
      </p:sp>
      <p:sp>
        <p:nvSpPr>
          <p:cNvPr id="21" name="Shape 19"/>
          <p:cNvSpPr/>
          <p:nvPr/>
        </p:nvSpPr>
        <p:spPr>
          <a:xfrm>
            <a:off x="914400" y="8964771"/>
            <a:ext cx="16459200" cy="13652"/>
          </a:xfrm>
          <a:prstGeom prst="rect">
            <a:avLst/>
          </a:prstGeom>
          <a:solidFill>
            <a:srgbClr val="003B71"/>
          </a:solidFill>
          <a:ln/>
        </p:spPr>
      </p:sp>
      <p:sp>
        <p:nvSpPr>
          <p:cNvPr id="22" name="Text 20"/>
          <p:cNvSpPr/>
          <p:nvPr/>
        </p:nvSpPr>
        <p:spPr>
          <a:xfrm>
            <a:off x="914400" y="9168924"/>
            <a:ext cx="5649294"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Modernizing the Credentialing Reporting Process</a:t>
            </a:r>
            <a:endParaRPr lang="en-US" sz="1650" dirty="0"/>
          </a:p>
        </p:txBody>
      </p:sp>
      <p:sp>
        <p:nvSpPr>
          <p:cNvPr id="23" name="Text 21"/>
          <p:cNvSpPr/>
          <p:nvPr/>
        </p:nvSpPr>
        <p:spPr>
          <a:xfrm>
            <a:off x="17122457" y="9168924"/>
            <a:ext cx="327343" cy="317976"/>
          </a:xfrm>
          <a:prstGeom prst="rect">
            <a:avLst/>
          </a:prstGeom>
          <a:noFill/>
          <a:ln/>
        </p:spPr>
        <p:txBody>
          <a:bodyPr wrap="square" lIns="25400" tIns="25400" rIns="25400" bIns="25400" rtlCol="0" anchor="t">
            <a:normAutofit/>
          </a:bodyPr>
          <a:lstStyle/>
          <a:p>
            <a:pPr algn="l" indent="0" marL="0">
              <a:buNone/>
            </a:pPr>
            <a:r>
              <a:rPr lang="en-US" sz="1650" spc="99" kern="0" dirty="0">
                <a:solidFill>
                  <a:srgbClr val="6B6866"/>
                </a:solidFill>
                <a:latin typeface="Segoe UI" pitchFamily="34" charset="0"/>
                <a:ea typeface="Segoe UI" pitchFamily="34" charset="-122"/>
                <a:cs typeface="Segoe UI" pitchFamily="34" charset="-120"/>
              </a:rPr>
              <a:t>13</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2026-08-07T16:20:56Z</dcterms:created>
  <dcterms:modified xsi:type="dcterms:W3CDTF">2026-08-07T16:20:56Z</dcterms:modified>
</cp:coreProperties>
</file>